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79" r:id="rId4"/>
    <p:sldId id="258" r:id="rId5"/>
    <p:sldId id="259" r:id="rId6"/>
    <p:sldId id="283" r:id="rId7"/>
    <p:sldId id="284" r:id="rId8"/>
    <p:sldId id="285" r:id="rId9"/>
    <p:sldId id="286" r:id="rId10"/>
    <p:sldId id="287" r:id="rId11"/>
    <p:sldId id="288" r:id="rId12"/>
    <p:sldId id="289" r:id="rId13"/>
    <p:sldId id="260" r:id="rId14"/>
    <p:sldId id="280" r:id="rId15"/>
    <p:sldId id="261" r:id="rId16"/>
    <p:sldId id="262" r:id="rId17"/>
    <p:sldId id="263" r:id="rId18"/>
    <p:sldId id="264" r:id="rId19"/>
    <p:sldId id="265" r:id="rId20"/>
    <p:sldId id="266" r:id="rId21"/>
    <p:sldId id="267" r:id="rId22"/>
    <p:sldId id="281" r:id="rId23"/>
    <p:sldId id="268" r:id="rId24"/>
    <p:sldId id="269" r:id="rId25"/>
    <p:sldId id="270" r:id="rId26"/>
    <p:sldId id="271" r:id="rId27"/>
    <p:sldId id="272" r:id="rId28"/>
    <p:sldId id="273" r:id="rId29"/>
    <p:sldId id="274" r:id="rId30"/>
    <p:sldId id="275" r:id="rId31"/>
    <p:sldId id="276" r:id="rId32"/>
    <p:sldId id="277" r:id="rId33"/>
    <p:sldId id="282" r:id="rId34"/>
    <p:sldId id="278" r:id="rId3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表紙・全体の流れ" id="{00000001-1111-4A2B-9C3D-000000000001}">
          <p14:sldIdLst>
            <p14:sldId id="256"/>
            <p14:sldId id="257"/>
          </p14:sldIdLst>
        </p14:section>
        <p14:section name="PART 1 セットアップ" id="{00000002-1111-4A2B-9C3D-000000000002}">
          <p14:sldIdLst>
            <p14:sldId id="279"/>
            <p14:sldId id="258"/>
            <p14:sldId id="259"/>
            <p14:sldId id="283"/>
            <p14:sldId id="284"/>
            <p14:sldId id="285"/>
            <p14:sldId id="286"/>
            <p14:sldId id="287"/>
            <p14:sldId id="288"/>
            <p14:sldId id="289"/>
            <p14:sldId id="260"/>
          </p14:sldIdLst>
        </p14:section>
        <p14:section name="PART 2 目標をつくる" id="{00000003-1111-4A2B-9C3D-000000000003}">
          <p14:sldIdLst>
            <p14:sldId id="280"/>
            <p14:sldId id="261"/>
            <p14:sldId id="262"/>
            <p14:sldId id="263"/>
            <p14:sldId id="264"/>
            <p14:sldId id="265"/>
            <p14:sldId id="266"/>
            <p14:sldId id="267"/>
          </p14:sldIdLst>
        </p14:section>
        <p14:section name="PART 3 毎日つかう" id="{00000004-1111-4A2B-9C3D-000000000004}">
          <p14:sldIdLst>
            <p14:sldId id="281"/>
            <p14:sldId id="268"/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</p14:sldIdLst>
        </p14:section>
        <p14:section name="PART 4 目標を整理する" id="{00000005-1111-4A2B-9C3D-000000000005}">
          <p14:sldIdLst>
            <p14:sldId id="282"/>
            <p14:sldId id="278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>
        <p:scale>
          <a:sx n="66" d="100"/>
          <a:sy n="66" d="100"/>
        </p:scale>
        <p:origin x="644" y="12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ableStyles" Target="tableStyle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viewProps" Target="viewProps.xml"/><Relationship Id="rId40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哲平 須山" userId="c26c017d0915661b" providerId="LiveId" clId="{DA26ABC9-5A05-45AB-90B3-A66BE5ECB02B}"/>
    <pc:docChg chg="addSld modSld modSection">
      <pc:chgData name="哲平 須山" userId="c26c017d0915661b" providerId="LiveId" clId="{DA26ABC9-5A05-45AB-90B3-A66BE5ECB02B}" dt="2026-09-07T08:37:02.299" v="21" actId="22"/>
      <pc:docMkLst>
        <pc:docMk/>
      </pc:docMkLst>
      <pc:sldChg chg="addSp modSp new mod">
        <pc:chgData name="哲平 須山" userId="c26c017d0915661b" providerId="LiveId" clId="{DA26ABC9-5A05-45AB-90B3-A66BE5ECB02B}" dt="2026-09-07T08:35:31.007" v="5" actId="27614"/>
        <pc:sldMkLst>
          <pc:docMk/>
          <pc:sldMk cId="3323469096" sldId="283"/>
        </pc:sldMkLst>
        <pc:picChg chg="add mod">
          <ac:chgData name="哲平 須山" userId="c26c017d0915661b" providerId="LiveId" clId="{DA26ABC9-5A05-45AB-90B3-A66BE5ECB02B}" dt="2026-09-07T08:35:31.007" v="5" actId="27614"/>
          <ac:picMkLst>
            <pc:docMk/>
            <pc:sldMk cId="3323469096" sldId="283"/>
            <ac:picMk id="3" creationId="{12161DD7-DDA8-1C1E-6EF2-E72B25B79895}"/>
          </ac:picMkLst>
        </pc:picChg>
      </pc:sldChg>
      <pc:sldChg chg="addSp modSp new mod">
        <pc:chgData name="哲平 須山" userId="c26c017d0915661b" providerId="LiveId" clId="{DA26ABC9-5A05-45AB-90B3-A66BE5ECB02B}" dt="2026-09-07T08:35:38.832" v="8" actId="27614"/>
        <pc:sldMkLst>
          <pc:docMk/>
          <pc:sldMk cId="4006661058" sldId="284"/>
        </pc:sldMkLst>
        <pc:picChg chg="add mod">
          <ac:chgData name="哲平 須山" userId="c26c017d0915661b" providerId="LiveId" clId="{DA26ABC9-5A05-45AB-90B3-A66BE5ECB02B}" dt="2026-09-07T08:35:38.832" v="8" actId="27614"/>
          <ac:picMkLst>
            <pc:docMk/>
            <pc:sldMk cId="4006661058" sldId="284"/>
            <ac:picMk id="3" creationId="{D7402824-F8FF-B8C2-D8C9-9CE26CD342B6}"/>
          </ac:picMkLst>
        </pc:picChg>
      </pc:sldChg>
      <pc:sldChg chg="addSp modSp new mod">
        <pc:chgData name="哲平 須山" userId="c26c017d0915661b" providerId="LiveId" clId="{DA26ABC9-5A05-45AB-90B3-A66BE5ECB02B}" dt="2026-09-07T08:35:46.889" v="9" actId="27614"/>
        <pc:sldMkLst>
          <pc:docMk/>
          <pc:sldMk cId="3554745515" sldId="285"/>
        </pc:sldMkLst>
        <pc:picChg chg="add mod">
          <ac:chgData name="哲平 須山" userId="c26c017d0915661b" providerId="LiveId" clId="{DA26ABC9-5A05-45AB-90B3-A66BE5ECB02B}" dt="2026-09-07T08:35:46.889" v="9" actId="27614"/>
          <ac:picMkLst>
            <pc:docMk/>
            <pc:sldMk cId="3554745515" sldId="285"/>
            <ac:picMk id="3" creationId="{7048EBE2-EE96-84AE-09D6-3D4BF38FAD71}"/>
          </ac:picMkLst>
        </pc:picChg>
      </pc:sldChg>
      <pc:sldChg chg="addSp modSp new mod">
        <pc:chgData name="哲平 須山" userId="c26c017d0915661b" providerId="LiveId" clId="{DA26ABC9-5A05-45AB-90B3-A66BE5ECB02B}" dt="2026-09-07T08:35:52.992" v="12" actId="27614"/>
        <pc:sldMkLst>
          <pc:docMk/>
          <pc:sldMk cId="1497915547" sldId="286"/>
        </pc:sldMkLst>
        <pc:picChg chg="add mod">
          <ac:chgData name="哲平 須山" userId="c26c017d0915661b" providerId="LiveId" clId="{DA26ABC9-5A05-45AB-90B3-A66BE5ECB02B}" dt="2026-09-07T08:35:52.992" v="12" actId="27614"/>
          <ac:picMkLst>
            <pc:docMk/>
            <pc:sldMk cId="1497915547" sldId="286"/>
            <ac:picMk id="3" creationId="{A9668B4F-A798-988A-849D-4A6882334B59}"/>
          </ac:picMkLst>
        </pc:picChg>
      </pc:sldChg>
      <pc:sldChg chg="addSp modSp new mod">
        <pc:chgData name="哲平 須山" userId="c26c017d0915661b" providerId="LiveId" clId="{DA26ABC9-5A05-45AB-90B3-A66BE5ECB02B}" dt="2026-09-07T08:36:24.020" v="15" actId="962"/>
        <pc:sldMkLst>
          <pc:docMk/>
          <pc:sldMk cId="1457868722" sldId="287"/>
        </pc:sldMkLst>
        <pc:picChg chg="add mod">
          <ac:chgData name="哲平 須山" userId="c26c017d0915661b" providerId="LiveId" clId="{DA26ABC9-5A05-45AB-90B3-A66BE5ECB02B}" dt="2026-09-07T08:36:24.020" v="15" actId="962"/>
          <ac:picMkLst>
            <pc:docMk/>
            <pc:sldMk cId="1457868722" sldId="287"/>
            <ac:picMk id="3" creationId="{765642D4-8ED1-47DA-E41F-999DF2E03EEC}"/>
          </ac:picMkLst>
        </pc:picChg>
      </pc:sldChg>
      <pc:sldChg chg="addSp modSp new mod">
        <pc:chgData name="哲平 須山" userId="c26c017d0915661b" providerId="LiveId" clId="{DA26ABC9-5A05-45AB-90B3-A66BE5ECB02B}" dt="2026-09-07T08:36:41.859" v="19" actId="962"/>
        <pc:sldMkLst>
          <pc:docMk/>
          <pc:sldMk cId="3078026385" sldId="288"/>
        </pc:sldMkLst>
        <pc:picChg chg="add mod">
          <ac:chgData name="哲平 須山" userId="c26c017d0915661b" providerId="LiveId" clId="{DA26ABC9-5A05-45AB-90B3-A66BE5ECB02B}" dt="2026-09-07T08:36:41.859" v="19" actId="962"/>
          <ac:picMkLst>
            <pc:docMk/>
            <pc:sldMk cId="3078026385" sldId="288"/>
            <ac:picMk id="3" creationId="{5D4177D6-5999-D90D-40FA-4A0352509FFA}"/>
          </ac:picMkLst>
        </pc:picChg>
      </pc:sldChg>
      <pc:sldChg chg="addSp new mod">
        <pc:chgData name="哲平 須山" userId="c26c017d0915661b" providerId="LiveId" clId="{DA26ABC9-5A05-45AB-90B3-A66BE5ECB02B}" dt="2026-09-07T08:37:02.299" v="21" actId="22"/>
        <pc:sldMkLst>
          <pc:docMk/>
          <pc:sldMk cId="1362645788" sldId="289"/>
        </pc:sldMkLst>
        <pc:picChg chg="add">
          <ac:chgData name="哲平 須山" userId="c26c017d0915661b" providerId="LiveId" clId="{DA26ABC9-5A05-45AB-90B3-A66BE5ECB02B}" dt="2026-09-07T08:37:02.299" v="21" actId="22"/>
          <ac:picMkLst>
            <pc:docMk/>
            <pc:sldMk cId="1362645788" sldId="289"/>
            <ac:picMk id="3" creationId="{75E8EA6E-9B92-1D4B-9A91-CC19E632A333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50000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85800" y="2350000"/>
            <a:ext cx="9000000" cy="9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4000" b="1">
                <a:solidFill>
                  <a:srgbClr val="1F3864"/>
                </a:solidFill>
                <a:latin typeface="游ゴシック"/>
                <a:ea typeface="游ゴシック"/>
              </a:rPr>
              <a:t>ミチナリ ユーザ手順書</a:t>
            </a:r>
          </a:p>
        </p:txBody>
      </p:sp>
      <p:sp>
        <p:nvSpPr>
          <p:cNvPr id="4" name="Rectangle 3"/>
          <p:cNvSpPr/>
          <p:nvPr/>
        </p:nvSpPr>
        <p:spPr>
          <a:xfrm>
            <a:off x="885800" y="3400000"/>
            <a:ext cx="1400000" cy="457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85800" y="3650000"/>
            <a:ext cx="9000000" cy="7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1400" b="0">
                <a:solidFill>
                  <a:srgbClr val="333333"/>
                </a:solidFill>
                <a:latin typeface="游ゴシック"/>
                <a:ea typeface="游ゴシック"/>
              </a:rPr>
              <a:t>資格試験の学習計画を立て、日々の実績を記録し、計画を見直すためのアプリ</a:t>
            </a:r>
          </a:p>
          <a:p>
            <a:pPr algn="l" eaLnBrk="1" latinLnBrk="0" hangingPunct="1">
              <a:lnSpc>
                <a:spcPct val="130000"/>
              </a:lnSpc>
              <a:spcBef>
                <a:spcPts val="600"/>
              </a:spcBef>
              <a:spcAft>
                <a:spcPts val="0"/>
              </a:spcAft>
            </a:pPr>
            <a:r>
              <a:rPr lang="ja-JP" altLang="en-US" sz="1200" b="0">
                <a:solidFill>
                  <a:srgbClr val="7A7A7A"/>
                </a:solidFill>
                <a:latin typeface="游ゴシック"/>
                <a:ea typeface="游ゴシック"/>
              </a:rPr>
              <a:t>Windows デスクトップ版　画面キャプチャで見る操作手順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85800" y="5750000"/>
            <a:ext cx="9000000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1100" b="0">
                <a:solidFill>
                  <a:srgbClr val="7A7A7A"/>
                </a:solidFill>
                <a:latin typeface="游ゴシック"/>
                <a:ea typeface="游ゴシック"/>
              </a:rPr>
              <a:t>2026-09-06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520000"/>
            <a:ext cx="10820400" cy="4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2300" b="1">
                <a:solidFill>
                  <a:srgbClr val="1F3864"/>
                </a:solidFill>
                <a:latin typeface="游ゴシック"/>
                <a:ea typeface="游ゴシック"/>
              </a:rPr>
              <a:t>全体の流れ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180000"/>
            <a:ext cx="10820400" cy="12700"/>
          </a:xfrm>
          <a:prstGeom prst="rect">
            <a:avLst/>
          </a:prstGeom>
          <a:solidFill>
            <a:srgbClr val="D8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85800" y="1440000"/>
            <a:ext cx="900000" cy="380000"/>
          </a:xfrm>
          <a:prstGeom prst="roundRect">
            <a:avLst>
              <a:gd name="adj" fmla="val 40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ja-JP" altLang="en-US" sz="1100" b="1">
                <a:solidFill>
                  <a:srgbClr val="2563EB"/>
                </a:solidFill>
                <a:latin typeface="游ゴシック"/>
                <a:ea typeface="游ゴシック"/>
              </a:rPr>
              <a:t>STEP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35800" y="1460000"/>
            <a:ext cx="2400000" cy="3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1400" b="1">
                <a:solidFill>
                  <a:srgbClr val="1F3864"/>
                </a:solidFill>
                <a:latin typeface="游ゴシック"/>
                <a:ea typeface="游ゴシック"/>
              </a:rPr>
              <a:t>起動する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85800" y="1480000"/>
            <a:ext cx="7000000" cy="3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Michinari.exe を起動する（初回は SmartScreen の警告に対応）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2060000"/>
            <a:ext cx="900000" cy="380000"/>
          </a:xfrm>
          <a:prstGeom prst="roundRect">
            <a:avLst>
              <a:gd name="adj" fmla="val 40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ja-JP" altLang="en-US" sz="1100" b="1">
                <a:solidFill>
                  <a:srgbClr val="2563EB"/>
                </a:solidFill>
                <a:latin typeface="游ゴシック"/>
                <a:ea typeface="游ゴシック"/>
              </a:rPr>
              <a:t>STEP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35800" y="2080000"/>
            <a:ext cx="2400000" cy="3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1400" b="1">
                <a:solidFill>
                  <a:srgbClr val="1F3864"/>
                </a:solidFill>
                <a:latin typeface="游ゴシック"/>
                <a:ea typeface="游ゴシック"/>
              </a:rPr>
              <a:t>初期設定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85800" y="2100000"/>
            <a:ext cx="7000000" cy="3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NewtonX で PAT を発行し、設定 → AI接続 で Host とともに登録する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680000"/>
            <a:ext cx="900000" cy="380000"/>
          </a:xfrm>
          <a:prstGeom prst="roundRect">
            <a:avLst>
              <a:gd name="adj" fmla="val 40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ja-JP" altLang="en-US" sz="1100" b="1">
                <a:solidFill>
                  <a:srgbClr val="2563EB"/>
                </a:solidFill>
                <a:latin typeface="游ゴシック"/>
                <a:ea typeface="游ゴシック"/>
              </a:rPr>
              <a:t>STEP 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35800" y="2700000"/>
            <a:ext cx="2400000" cy="3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1400" b="1">
                <a:solidFill>
                  <a:srgbClr val="1F3864"/>
                </a:solidFill>
                <a:latin typeface="游ゴシック"/>
                <a:ea typeface="游ゴシック"/>
              </a:rPr>
              <a:t>目標をつくる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85800" y="2720000"/>
            <a:ext cx="7000000" cy="3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目標一覧 → 新規目標作成 で目標を登録する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300000"/>
            <a:ext cx="900000" cy="380000"/>
          </a:xfrm>
          <a:prstGeom prst="roundRect">
            <a:avLst>
              <a:gd name="adj" fmla="val 40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ja-JP" altLang="en-US" sz="1100" b="1">
                <a:solidFill>
                  <a:srgbClr val="2563EB"/>
                </a:solidFill>
                <a:latin typeface="游ゴシック"/>
                <a:ea typeface="游ゴシック"/>
              </a:rPr>
              <a:t>STEP 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35800" y="3320000"/>
            <a:ext cx="2400000" cy="3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1400" b="1">
                <a:solidFill>
                  <a:srgbClr val="1F3864"/>
                </a:solidFill>
                <a:latin typeface="游ゴシック"/>
                <a:ea typeface="游ゴシック"/>
              </a:rPr>
              <a:t>中身を整える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85800" y="3340000"/>
            <a:ext cx="7000000" cy="3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試験科目・教材・リソース配分・負荷プロファイルを設定する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3920000"/>
            <a:ext cx="900000" cy="380000"/>
          </a:xfrm>
          <a:prstGeom prst="roundRect">
            <a:avLst>
              <a:gd name="adj" fmla="val 40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ja-JP" altLang="en-US" sz="1100" b="1">
                <a:solidFill>
                  <a:srgbClr val="2563EB"/>
                </a:solidFill>
                <a:latin typeface="游ゴシック"/>
                <a:ea typeface="游ゴシック"/>
              </a:rPr>
              <a:t>STEP 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35800" y="3940000"/>
            <a:ext cx="2400000" cy="3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1400" b="1">
                <a:solidFill>
                  <a:srgbClr val="1F3864"/>
                </a:solidFill>
                <a:latin typeface="游ゴシック"/>
                <a:ea typeface="游ゴシック"/>
              </a:rPr>
              <a:t>毎日記録する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85800" y="3960000"/>
            <a:ext cx="7000000" cy="3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ダッシュボードから日次報告を入力し、カレンダーで状況を確認する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5800" y="4540000"/>
            <a:ext cx="900000" cy="380000"/>
          </a:xfrm>
          <a:prstGeom prst="roundRect">
            <a:avLst>
              <a:gd name="adj" fmla="val 40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ja-JP" altLang="en-US" sz="1100" b="1">
                <a:solidFill>
                  <a:srgbClr val="2563EB"/>
                </a:solidFill>
                <a:latin typeface="游ゴシック"/>
                <a:ea typeface="游ゴシック"/>
              </a:rPr>
              <a:t>STEP 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35800" y="4560000"/>
            <a:ext cx="2400000" cy="3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1400" b="1">
                <a:solidFill>
                  <a:srgbClr val="1F3864"/>
                </a:solidFill>
                <a:latin typeface="游ゴシック"/>
                <a:ea typeface="游ゴシック"/>
              </a:rPr>
              <a:t>ふりかえる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85800" y="4580000"/>
            <a:ext cx="7000000" cy="3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分析画面の 7 タブで進捗・品質・予測を確認する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5800" y="5160000"/>
            <a:ext cx="900000" cy="380000"/>
          </a:xfrm>
          <a:prstGeom prst="roundRect">
            <a:avLst>
              <a:gd name="adj" fmla="val 40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ja-JP" altLang="en-US" sz="1100" b="1">
                <a:solidFill>
                  <a:srgbClr val="2563EB"/>
                </a:solidFill>
                <a:latin typeface="游ゴシック"/>
                <a:ea typeface="游ゴシック"/>
              </a:rPr>
              <a:t>STEP 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735800" y="5180000"/>
            <a:ext cx="2400000" cy="3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1400" b="1">
                <a:solidFill>
                  <a:srgbClr val="1F3864"/>
                </a:solidFill>
                <a:latin typeface="游ゴシック"/>
                <a:ea typeface="游ゴシック"/>
              </a:rPr>
              <a:t>目標を整理する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85800" y="5200000"/>
            <a:ext cx="7000000" cy="3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終わった目標をアーカイブ・削除する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6280000"/>
            <a:ext cx="50000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900" b="0">
                <a:solidFill>
                  <a:srgbClr val="7A7A7A"/>
                </a:solidFill>
                <a:latin typeface="游ゴシック"/>
                <a:ea typeface="游ゴシック"/>
              </a:rPr>
              <a:t>ミチナリ ユーザ手順書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506200" y="6280000"/>
            <a:ext cx="20000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900" b="0">
                <a:solidFill>
                  <a:srgbClr val="7A7A7A"/>
                </a:solidFill>
                <a:latin typeface="游ゴシック"/>
                <a:ea typeface="游ゴシック"/>
              </a:rPr>
              <a:t>2 / 34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726200" y="1400000"/>
            <a:ext cx="1400000" cy="380000"/>
          </a:xfrm>
          <a:prstGeom prst="roundRect">
            <a:avLst>
              <a:gd name="adj" fmla="val 40000"/>
            </a:avLst>
          </a:prstGeom>
          <a:solidFill>
            <a:srgbClr val="7FB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algn="ctr"/>
            <a:r>
              <a:rPr lang="ja-JP" altLang="en-US" sz="1000" b="1">
                <a:solidFill>
                  <a:srgbClr val="1F3864"/>
                </a:solidFill>
                <a:latin typeface="游ゴシック"/>
                <a:ea typeface="游ゴシック"/>
                <a:cs typeface="游ゴシック"/>
              </a:rPr>
              <a:t>1 セットアップ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186200" y="1400000"/>
            <a:ext cx="1400000" cy="380000"/>
          </a:xfrm>
          <a:prstGeom prst="roundRect">
            <a:avLst>
              <a:gd name="adj" fmla="val 40000"/>
            </a:avLst>
          </a:prstGeom>
          <a:solidFill>
            <a:srgbClr val="2A4A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algn="ctr"/>
            <a:r>
              <a:rPr lang="ja-JP" altLang="en-US" sz="1000" b="0">
                <a:solidFill>
                  <a:srgbClr val="9CB3D9"/>
                </a:solidFill>
                <a:latin typeface="游ゴシック"/>
                <a:ea typeface="游ゴシック"/>
                <a:cs typeface="游ゴシック"/>
              </a:rPr>
              <a:t>2 目標をつくる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46200" y="1400000"/>
            <a:ext cx="1400000" cy="380000"/>
          </a:xfrm>
          <a:prstGeom prst="roundRect">
            <a:avLst>
              <a:gd name="adj" fmla="val 40000"/>
            </a:avLst>
          </a:prstGeom>
          <a:solidFill>
            <a:srgbClr val="2A4A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algn="ctr"/>
            <a:r>
              <a:rPr lang="ja-JP" altLang="en-US" sz="1000" b="0">
                <a:solidFill>
                  <a:srgbClr val="9CB3D9"/>
                </a:solidFill>
                <a:latin typeface="游ゴシック"/>
                <a:ea typeface="游ゴシック"/>
                <a:cs typeface="游ゴシック"/>
              </a:rPr>
              <a:t>3 毎日つかう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106200" y="1400000"/>
            <a:ext cx="1400000" cy="380000"/>
          </a:xfrm>
          <a:prstGeom prst="roundRect">
            <a:avLst>
              <a:gd name="adj" fmla="val 40000"/>
            </a:avLst>
          </a:prstGeom>
          <a:solidFill>
            <a:srgbClr val="2A4A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algn="ctr"/>
            <a:r>
              <a:rPr lang="ja-JP" altLang="en-US" sz="1000" b="0">
                <a:solidFill>
                  <a:srgbClr val="9CB3D9"/>
                </a:solidFill>
                <a:latin typeface="游ゴシック"/>
                <a:ea typeface="游ゴシック"/>
                <a:cs typeface="游ゴシック"/>
              </a:rPr>
              <a:t>4 整理する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00000"/>
            <a:ext cx="4000000" cy="38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1400" b="1">
                <a:solidFill>
                  <a:srgbClr val="7FB0FF"/>
                </a:solidFill>
                <a:latin typeface="游ゴシック"/>
                <a:ea typeface="游ゴシック"/>
                <a:cs typeface="游ゴシック"/>
              </a:rPr>
              <a:t>PART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880000"/>
            <a:ext cx="9000000" cy="9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3600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セットアップ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2960000"/>
            <a:ext cx="1400000" cy="45720"/>
          </a:xfrm>
          <a:prstGeom prst="rect">
            <a:avLst/>
          </a:prstGeom>
          <a:solidFill>
            <a:srgbClr val="7FB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5800" y="3200000"/>
            <a:ext cx="9000000" cy="42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1600" b="0">
                <a:solidFill>
                  <a:srgbClr val="D8DDE5"/>
                </a:solidFill>
                <a:latin typeface="游ゴシック"/>
                <a:ea typeface="游ゴシック"/>
                <a:cs typeface="游ゴシック"/>
              </a:rPr>
              <a:t>アプリを起動し、AI接続を設定します。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800000"/>
            <a:ext cx="9000000" cy="3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1100" b="1">
                <a:solidFill>
                  <a:srgbClr val="9CB3D9"/>
                </a:solidFill>
                <a:latin typeface="游ゴシック"/>
                <a:ea typeface="游ゴシック"/>
                <a:cs typeface="游ゴシック"/>
              </a:rPr>
              <a:t>このパートに含まれる手順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4160000"/>
            <a:ext cx="9000000" cy="8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lang="ja-JP" altLang="en-US" sz="1400" b="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STEP 1　起動する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lang="ja-JP" altLang="en-US" sz="1400" b="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STEP 2　初期設定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5150000"/>
            <a:ext cx="8200000" cy="720000"/>
          </a:xfrm>
          <a:prstGeom prst="roundRect">
            <a:avLst>
              <a:gd name="adj" fmla="val 8000"/>
            </a:avLst>
          </a:prstGeom>
          <a:solidFill>
            <a:srgbClr val="2A4A7F"/>
          </a:solidFill>
          <a:ln w="9525">
            <a:solidFill>
              <a:srgbClr val="7FB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lang="ja-JP" altLang="en-US" sz="1300" b="1">
                <a:solidFill>
                  <a:srgbClr val="7FB0FF"/>
                </a:solidFill>
                <a:latin typeface="游ゴシック"/>
                <a:ea typeface="游ゴシック"/>
                <a:cs typeface="游ゴシック"/>
              </a:rPr>
              <a:t>ゴール　</a:t>
            </a:r>
            <a:r>
              <a:rPr lang="ja-JP" altLang="en-US" sz="1300" b="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このパートが終わると、アプリの初期設定は完了です。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6280000"/>
            <a:ext cx="5000000" cy="26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900" b="0">
                <a:solidFill>
                  <a:srgbClr val="9CB3D9"/>
                </a:solidFill>
                <a:latin typeface="游ゴシック"/>
                <a:ea typeface="游ゴシック"/>
                <a:cs typeface="游ゴシック"/>
              </a:rPr>
              <a:t>ミチナリ ユーザ手順書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6200" y="6280000"/>
            <a:ext cx="2000000" cy="26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900" b="0">
                <a:solidFill>
                  <a:srgbClr val="9CB3D9"/>
                </a:solidFill>
                <a:latin typeface="游ゴシック"/>
                <a:ea typeface="游ゴシック"/>
                <a:cs typeface="游ゴシック"/>
              </a:rPr>
              <a:t>3 / 34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85800" y="430000"/>
            <a:ext cx="1536000" cy="300000"/>
          </a:xfrm>
          <a:prstGeom prst="roundRect">
            <a:avLst>
              <a:gd name="adj" fmla="val 50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ja-JP" altLang="en-US" sz="1050" b="1">
                <a:solidFill>
                  <a:srgbClr val="2563EB"/>
                </a:solidFill>
                <a:latin typeface="游ゴシック"/>
                <a:ea typeface="游ゴシック"/>
              </a:rPr>
              <a:t>STEP 1  起動する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90000"/>
            <a:ext cx="10820400" cy="4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2300" b="1">
                <a:solidFill>
                  <a:srgbClr val="1F3864"/>
                </a:solidFill>
                <a:latin typeface="游ゴシック"/>
                <a:ea typeface="游ゴシック"/>
              </a:rPr>
              <a:t>アプリを起動する（Windows の警告が出た場合）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180000"/>
            <a:ext cx="10820400" cy="12700"/>
          </a:xfrm>
          <a:prstGeom prst="rect">
            <a:avLst/>
          </a:prstGeom>
          <a:solidFill>
            <a:srgbClr val="D8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1380000"/>
            <a:ext cx="3500000" cy="47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① Michinari.exe をダブルクリックします。</a:t>
            </a:r>
          </a:p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② 初回起動時は Windows の SmartScreen 警告が表示されることがあります。</a:t>
            </a:r>
          </a:p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③ 画面の「詳細情報」をクリックします。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5131780"/>
            <a:ext cx="3500000" cy="998220"/>
          </a:xfrm>
          <a:prstGeom prst="roundRect">
            <a:avLst>
              <a:gd name="adj" fmla="val 8000"/>
            </a:avLst>
          </a:prstGeom>
          <a:solidFill>
            <a:srgbClr val="FFF8E8"/>
          </a:solidFill>
          <a:ln w="9525">
            <a:solidFill>
              <a:srgbClr val="E8C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91440" bIns="91440" rtlCol="0" anchor="t"/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300"/>
              </a:spcAft>
            </a:pPr>
            <a:r>
              <a:rPr lang="ja-JP" altLang="en-US" sz="1000" b="1">
                <a:solidFill>
                  <a:srgbClr val="8A5A00"/>
                </a:solidFill>
                <a:latin typeface="游ゴシック"/>
                <a:ea typeface="游ゴシック"/>
              </a:rPr>
              <a:t>注意</a:t>
            </a:r>
          </a:p>
          <a:p>
            <a:pPr algn="l" eaLnBrk="1" latinLnBrk="0" hangingPunct="1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1000" b="0">
                <a:solidFill>
                  <a:srgbClr val="8A5A00"/>
                </a:solidFill>
                <a:latin typeface="游ゴシック"/>
                <a:ea typeface="游ゴシック"/>
              </a:rPr>
              <a:t>この画面のままでは「実行」ボタンが表示されません。「実行しない」を押すと起動しないため、必ず「詳細情報」を押してください。</a:t>
            </a:r>
          </a:p>
        </p:txBody>
      </p:sp>
      <p:pic>
        <p:nvPicPr>
          <p:cNvPr id="7" name="Picture 6" descr="imag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70960" y="1380000"/>
            <a:ext cx="5070080" cy="4750000"/>
          </a:xfrm>
          <a:prstGeom prst="rect">
            <a:avLst/>
          </a:prstGeom>
          <a:ln w="9525">
            <a:solidFill>
              <a:srgbClr val="C9CFD8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685800" y="6280000"/>
            <a:ext cx="50000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900" b="0">
                <a:solidFill>
                  <a:srgbClr val="7A7A7A"/>
                </a:solidFill>
                <a:latin typeface="游ゴシック"/>
                <a:ea typeface="游ゴシック"/>
              </a:rPr>
              <a:t>ミチナリ ユーザ手順書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6200" y="6280000"/>
            <a:ext cx="20000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900" b="0">
                <a:solidFill>
                  <a:srgbClr val="7A7A7A"/>
                </a:solidFill>
                <a:latin typeface="游ゴシック"/>
                <a:ea typeface="游ゴシック"/>
              </a:rPr>
              <a:t>4 / 34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85800" y="430000"/>
            <a:ext cx="1536000" cy="300000"/>
          </a:xfrm>
          <a:prstGeom prst="roundRect">
            <a:avLst>
              <a:gd name="adj" fmla="val 50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ja-JP" altLang="en-US" sz="1050" b="1">
                <a:solidFill>
                  <a:srgbClr val="2563EB"/>
                </a:solidFill>
                <a:latin typeface="游ゴシック"/>
                <a:ea typeface="游ゴシック"/>
              </a:rPr>
              <a:t>STEP 1  起動する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90000"/>
            <a:ext cx="10820400" cy="4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2300" b="1">
                <a:solidFill>
                  <a:srgbClr val="1F3864"/>
                </a:solidFill>
                <a:latin typeface="游ゴシック"/>
                <a:ea typeface="游ゴシック"/>
              </a:rPr>
              <a:t>「実行」を押してアプリを開く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180000"/>
            <a:ext cx="10820400" cy="12700"/>
          </a:xfrm>
          <a:prstGeom prst="rect">
            <a:avLst/>
          </a:prstGeom>
          <a:solidFill>
            <a:srgbClr val="D8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1380000"/>
            <a:ext cx="3500000" cy="47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① 「詳細情報」を押すと、アプリ名（Michinari.exe）と発行元が表示されます。</a:t>
            </a:r>
          </a:p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② 「実行」をクリックします。</a:t>
            </a:r>
          </a:p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③ アプリが起動し、ダッシュボード画面が表示されます。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5303230"/>
            <a:ext cx="3500000" cy="826770"/>
          </a:xfrm>
          <a:prstGeom prst="roundRect">
            <a:avLst>
              <a:gd name="adj" fmla="val 8000"/>
            </a:avLst>
          </a:prstGeom>
          <a:solidFill>
            <a:srgbClr val="FFF8E8"/>
          </a:solidFill>
          <a:ln w="9525">
            <a:solidFill>
              <a:srgbClr val="E8C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91440" bIns="91440" rtlCol="0" anchor="t"/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300"/>
              </a:spcAft>
            </a:pPr>
            <a:r>
              <a:rPr lang="ja-JP" altLang="en-US" sz="1000" b="1">
                <a:solidFill>
                  <a:srgbClr val="8A5A00"/>
                </a:solidFill>
                <a:latin typeface="游ゴシック"/>
                <a:ea typeface="游ゴシック"/>
              </a:rPr>
              <a:t>補足</a:t>
            </a:r>
          </a:p>
          <a:p>
            <a:pPr algn="l" eaLnBrk="1" latinLnBrk="0" hangingPunct="1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1000" b="0">
                <a:solidFill>
                  <a:srgbClr val="8A5A00"/>
                </a:solidFill>
                <a:latin typeface="游ゴシック"/>
                <a:ea typeface="游ゴシック"/>
              </a:rPr>
              <a:t>2 回目以降の起動ではこの警告が表示されないことがあります。</a:t>
            </a:r>
          </a:p>
        </p:txBody>
      </p:sp>
      <p:pic>
        <p:nvPicPr>
          <p:cNvPr id="7" name="Picture 6" descr="image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69655" y="1380000"/>
            <a:ext cx="5072690" cy="4750000"/>
          </a:xfrm>
          <a:prstGeom prst="rect">
            <a:avLst/>
          </a:prstGeom>
          <a:ln w="9525">
            <a:solidFill>
              <a:srgbClr val="C9CFD8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685800" y="6280000"/>
            <a:ext cx="50000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900" b="0">
                <a:solidFill>
                  <a:srgbClr val="7A7A7A"/>
                </a:solidFill>
                <a:latin typeface="游ゴシック"/>
                <a:ea typeface="游ゴシック"/>
              </a:rPr>
              <a:t>ミチナリ ユーザ手順書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6200" y="6280000"/>
            <a:ext cx="20000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900" b="0">
                <a:solidFill>
                  <a:srgbClr val="7A7A7A"/>
                </a:solidFill>
                <a:latin typeface="游ゴシック"/>
                <a:ea typeface="游ゴシック"/>
              </a:rPr>
              <a:t>5 / 34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85800" y="430000"/>
            <a:ext cx="1536000" cy="300000"/>
          </a:xfrm>
          <a:prstGeom prst="roundRect">
            <a:avLst>
              <a:gd name="adj" fmla="val 50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ja-JP" altLang="en-US" sz="1050" b="1">
                <a:solidFill>
                  <a:srgbClr val="2563EB"/>
                </a:solidFill>
                <a:latin typeface="游ゴシック"/>
                <a:ea typeface="游ゴシック"/>
              </a:rPr>
              <a:t>STEP 2  初期設定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90000"/>
            <a:ext cx="10820400" cy="4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2300" b="1">
                <a:solidFill>
                  <a:srgbClr val="1F3864"/>
                </a:solidFill>
                <a:latin typeface="游ゴシック"/>
                <a:ea typeface="游ゴシック"/>
              </a:rPr>
              <a:t>PAT を取得する ① NewtonX の Web 版を開く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180000"/>
            <a:ext cx="10820400" cy="12700"/>
          </a:xfrm>
          <a:prstGeom prst="rect">
            <a:avLst/>
          </a:prstGeom>
          <a:solidFill>
            <a:srgbClr val="D8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1380000"/>
            <a:ext cx="3500000" cy="47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① ブラウザで NewtonX の Web 版を開き、サインインします。</a:t>
            </a:r>
          </a:p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② URL は https://xxx.newton-x.net です（xxx はご所属のサブドメイン）。</a:t>
            </a:r>
          </a:p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③ 左端のメニューから「アカウント」をクリックします。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5131780"/>
            <a:ext cx="3500000" cy="998220"/>
          </a:xfrm>
          <a:prstGeom prst="roundRect">
            <a:avLst>
              <a:gd name="adj" fmla="val 8000"/>
            </a:avLst>
          </a:prstGeom>
          <a:solidFill>
            <a:srgbClr val="FFF8E8"/>
          </a:solidFill>
          <a:ln w="9525">
            <a:solidFill>
              <a:srgbClr val="E8C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91440" bIns="91440" rtlCol="0" anchor="t"/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300"/>
              </a:spcAft>
            </a:pPr>
            <a:r>
              <a:rPr lang="ja-JP" altLang="en-US" sz="1000" b="1">
                <a:solidFill>
                  <a:srgbClr val="8A5A00"/>
                </a:solidFill>
                <a:latin typeface="游ゴシック"/>
                <a:ea typeface="游ゴシック"/>
              </a:rPr>
              <a:t>補足</a:t>
            </a:r>
          </a:p>
          <a:p>
            <a:pPr algn="l" eaLnBrk="1" latinLnBrk="0" hangingPunct="1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1000" b="0">
                <a:solidFill>
                  <a:srgbClr val="8A5A00"/>
                </a:solidFill>
                <a:latin typeface="游ゴシック"/>
                <a:ea typeface="游ゴシック"/>
              </a:rPr>
              <a:t>この画面はミチナリではなく、ブラウザで開く NewtonX の Web 版です。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685800" y="6280000"/>
            <a:ext cx="50000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900" b="0">
                <a:solidFill>
                  <a:srgbClr val="7A7A7A"/>
                </a:solidFill>
                <a:latin typeface="游ゴシック"/>
                <a:ea typeface="游ゴシック"/>
              </a:rPr>
              <a:t>ミチナリ ユーザ手順書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9506200" y="6280000"/>
            <a:ext cx="20000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900" b="0">
                <a:solidFill>
                  <a:srgbClr val="7A7A7A"/>
                </a:solidFill>
                <a:latin typeface="游ゴシック"/>
                <a:ea typeface="游ゴシック"/>
              </a:rPr>
              <a:t>6 / 34</a:t>
            </a:r>
          </a:p>
        </p:txBody>
      </p:sp>
      <p:pic>
        <p:nvPicPr>
          <p:cNvPr id="9" name="図 2" descr="The image shows a user interface with a chatbot prompt, various options, and a search bar, possibly for a help or task request system.&#10;&#10;AI 生成コンテンツは誤りを含む可能性があります。">
            <a:extLst>
              <a:ext uri="{FF2B5EF4-FFF2-40B4-BE49-F238E27FC236}">
                <a16:creationId xmlns:a16="http://schemas.microsoft.com/office/drawing/2014/main" id="{12161DD7-DDA8-1C1E-6EF2-E72B25B798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5800" y="2017715"/>
            <a:ext cx="7000400" cy="3474570"/>
          </a:xfrm>
          <a:prstGeom prst="rect">
            <a:avLst/>
          </a:prstGeom>
          <a:ln w="9525">
            <a:solidFill>
              <a:srgbClr val="C9CFD8"/>
            </a:solidFill>
          </a:ln>
        </p:spPr>
      </p:pic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CB5885D8-3F08-5614-983B-DAA4A2B924AE}"/>
              </a:ext>
            </a:extLst>
          </p:cNvPr>
          <p:cNvSpPr/>
          <p:nvPr/>
        </p:nvSpPr>
        <p:spPr>
          <a:xfrm>
            <a:off x="5038344" y="3108960"/>
            <a:ext cx="1325880" cy="2022820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2346909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85800" y="430000"/>
            <a:ext cx="1536000" cy="300000"/>
          </a:xfrm>
          <a:prstGeom prst="roundRect">
            <a:avLst>
              <a:gd name="adj" fmla="val 50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ja-JP" altLang="en-US" sz="1050" b="1">
                <a:solidFill>
                  <a:srgbClr val="2563EB"/>
                </a:solidFill>
                <a:latin typeface="游ゴシック"/>
                <a:ea typeface="游ゴシック"/>
              </a:rPr>
              <a:t>STEP 2  初期設定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90000"/>
            <a:ext cx="10820400" cy="4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2300" b="1">
                <a:solidFill>
                  <a:srgbClr val="1F3864"/>
                </a:solidFill>
                <a:latin typeface="游ゴシック"/>
                <a:ea typeface="游ゴシック"/>
              </a:rPr>
              <a:t>PAT を取得する ② アカウント画面を開く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180000"/>
            <a:ext cx="10820400" cy="12700"/>
          </a:xfrm>
          <a:prstGeom prst="rect">
            <a:avLst/>
          </a:prstGeom>
          <a:solidFill>
            <a:srgbClr val="D8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1380000"/>
            <a:ext cx="3500000" cy="47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① 「アカウント情報」が表示されます。</a:t>
            </a:r>
          </a:p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② 左のメニューから「アクセストークン」をクリックします。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5131780"/>
            <a:ext cx="3500000" cy="998220"/>
          </a:xfrm>
          <a:prstGeom prst="roundRect">
            <a:avLst>
              <a:gd name="adj" fmla="val 8000"/>
            </a:avLst>
          </a:prstGeom>
          <a:solidFill>
            <a:srgbClr val="FFF8E8"/>
          </a:solidFill>
          <a:ln w="9525">
            <a:solidFill>
              <a:srgbClr val="E8C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91440" bIns="91440" rtlCol="0" anchor="t"/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300"/>
              </a:spcAft>
            </a:pPr>
            <a:r>
              <a:rPr lang="ja-JP" altLang="en-US" sz="1000" b="1">
                <a:solidFill>
                  <a:srgbClr val="8A5A00"/>
                </a:solidFill>
                <a:latin typeface="游ゴシック"/>
                <a:ea typeface="游ゴシック"/>
              </a:rPr>
              <a:t>補足</a:t>
            </a:r>
          </a:p>
          <a:p>
            <a:pPr algn="l" eaLnBrk="1" latinLnBrk="0" hangingPunct="1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1000" b="0">
                <a:solidFill>
                  <a:srgbClr val="8A5A00"/>
                </a:solidFill>
                <a:latin typeface="游ゴシック"/>
                <a:ea typeface="游ゴシック"/>
              </a:rPr>
              <a:t>表示される氏名・メールアドレスは、サインイン中のご自身のものです。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685800" y="6280000"/>
            <a:ext cx="50000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900" b="0">
                <a:solidFill>
                  <a:srgbClr val="7A7A7A"/>
                </a:solidFill>
                <a:latin typeface="游ゴシック"/>
                <a:ea typeface="游ゴシック"/>
              </a:rPr>
              <a:t>ミチナリ ユーザ手順書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9506200" y="6280000"/>
            <a:ext cx="20000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900" b="0">
                <a:solidFill>
                  <a:srgbClr val="7A7A7A"/>
                </a:solidFill>
                <a:latin typeface="游ゴシック"/>
                <a:ea typeface="游ゴシック"/>
              </a:rPr>
              <a:t>7 / 34</a:t>
            </a:r>
          </a:p>
        </p:txBody>
      </p:sp>
      <p:pic>
        <p:nvPicPr>
          <p:cNvPr id="9" name="図 2" descr="The image is a screenshot of a user account settings page in a software application, featuring fields for account name, chat, email, department, and various options for tokens and templates.&#10;&#10;AI 生成コンテンツは誤りを含む可能性があります。">
            <a:extLst>
              <a:ext uri="{FF2B5EF4-FFF2-40B4-BE49-F238E27FC236}">
                <a16:creationId xmlns:a16="http://schemas.microsoft.com/office/drawing/2014/main" id="{D7402824-F8FF-B8C2-D8C9-9CE26CD342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5800" y="2022264"/>
            <a:ext cx="7000400" cy="3465472"/>
          </a:xfrm>
          <a:prstGeom prst="rect">
            <a:avLst/>
          </a:prstGeom>
          <a:ln w="9525">
            <a:solidFill>
              <a:srgbClr val="C9CFD8"/>
            </a:solidFill>
          </a:ln>
        </p:spPr>
      </p:pic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736EE3E1-47E1-CB70-02F0-481840E87192}"/>
              </a:ext>
            </a:extLst>
          </p:cNvPr>
          <p:cNvSpPr/>
          <p:nvPr/>
        </p:nvSpPr>
        <p:spPr>
          <a:xfrm>
            <a:off x="6795944" y="2322576"/>
            <a:ext cx="483696" cy="228600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47DB19B2-B92D-0780-8F1A-051491CC271F}"/>
              </a:ext>
            </a:extLst>
          </p:cNvPr>
          <p:cNvSpPr/>
          <p:nvPr/>
        </p:nvSpPr>
        <p:spPr>
          <a:xfrm>
            <a:off x="9086088" y="2322576"/>
            <a:ext cx="1089152" cy="228600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400666105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85800" y="430000"/>
            <a:ext cx="1536000" cy="300000"/>
          </a:xfrm>
          <a:prstGeom prst="roundRect">
            <a:avLst>
              <a:gd name="adj" fmla="val 50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ja-JP" altLang="en-US" sz="1050" b="1">
                <a:solidFill>
                  <a:srgbClr val="2563EB"/>
                </a:solidFill>
                <a:latin typeface="游ゴシック"/>
                <a:ea typeface="游ゴシック"/>
              </a:rPr>
              <a:t>STEP 2  初期設定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90000"/>
            <a:ext cx="10820400" cy="4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2300" b="1">
                <a:solidFill>
                  <a:srgbClr val="1F3864"/>
                </a:solidFill>
                <a:latin typeface="游ゴシック"/>
                <a:ea typeface="游ゴシック"/>
              </a:rPr>
              <a:t>PAT を取得する ③ 「新規発行」をクリックする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180000"/>
            <a:ext cx="10820400" cy="12700"/>
          </a:xfrm>
          <a:prstGeom prst="rect">
            <a:avLst/>
          </a:prstGeom>
          <a:solidFill>
            <a:srgbClr val="D8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1380000"/>
            <a:ext cx="3500000" cy="47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① 「NewtonX ADK Token」の一覧が表示されます。</a:t>
            </a:r>
          </a:p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② 発行済みのトークンがある場合は、名前と有効期限が並びます。</a:t>
            </a:r>
          </a:p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③ 右上の「＋ 新規発行」をクリックします。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5131780"/>
            <a:ext cx="3500000" cy="998220"/>
          </a:xfrm>
          <a:prstGeom prst="roundRect">
            <a:avLst>
              <a:gd name="adj" fmla="val 8000"/>
            </a:avLst>
          </a:prstGeom>
          <a:solidFill>
            <a:srgbClr val="FFF8E8"/>
          </a:solidFill>
          <a:ln w="9525">
            <a:solidFill>
              <a:srgbClr val="E8C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91440" bIns="91440" rtlCol="0" anchor="t"/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300"/>
              </a:spcAft>
            </a:pPr>
            <a:r>
              <a:rPr lang="ja-JP" altLang="en-US" sz="1000" b="1">
                <a:solidFill>
                  <a:srgbClr val="8A5A00"/>
                </a:solidFill>
                <a:latin typeface="游ゴシック"/>
                <a:ea typeface="游ゴシック"/>
              </a:rPr>
              <a:t>注意</a:t>
            </a:r>
          </a:p>
          <a:p>
            <a:pPr algn="l" eaLnBrk="1" latinLnBrk="0" hangingPunct="1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1000" b="0">
                <a:solidFill>
                  <a:srgbClr val="8A5A00"/>
                </a:solidFill>
                <a:latin typeface="游ゴシック"/>
                <a:ea typeface="游ゴシック"/>
              </a:rPr>
              <a:t>トークンは発行時にしか表示されません。控えていない場合は作り直します。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685800" y="6280000"/>
            <a:ext cx="50000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900" b="0">
                <a:solidFill>
                  <a:srgbClr val="7A7A7A"/>
                </a:solidFill>
                <a:latin typeface="游ゴシック"/>
                <a:ea typeface="游ゴシック"/>
              </a:rPr>
              <a:t>ミチナリ ユーザ手順書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9506200" y="6280000"/>
            <a:ext cx="20000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900" b="0">
                <a:solidFill>
                  <a:srgbClr val="7A7A7A"/>
                </a:solidFill>
                <a:latin typeface="游ゴシック"/>
                <a:ea typeface="游ゴシック"/>
              </a:rPr>
              <a:t>8 / 34</a:t>
            </a:r>
          </a:p>
        </p:txBody>
      </p:sp>
      <p:pic>
        <p:nvPicPr>
          <p:cNvPr id="9" name="図 2" descr="The image shows a screen with various options for managing an account, including a section for NewtonX ADK Token, which includes information about the token's creation and expiration date.&#10;&#10;AI 生成コンテンツは誤りを含む可能性があります。">
            <a:extLst>
              <a:ext uri="{FF2B5EF4-FFF2-40B4-BE49-F238E27FC236}">
                <a16:creationId xmlns:a16="http://schemas.microsoft.com/office/drawing/2014/main" id="{7048EBE2-EE96-84AE-09D6-3D4BF38FAD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5800" y="2017674"/>
            <a:ext cx="7000400" cy="3474651"/>
          </a:xfrm>
          <a:prstGeom prst="rect">
            <a:avLst/>
          </a:prstGeom>
          <a:ln w="9525">
            <a:solidFill>
              <a:srgbClr val="C9CFD8"/>
            </a:solidFill>
          </a:ln>
        </p:spPr>
      </p:pic>
    </p:spTree>
    <p:extLst>
      <p:ext uri="{BB962C8B-B14F-4D97-AF65-F5344CB8AC3E}">
        <p14:creationId xmlns:p14="http://schemas.microsoft.com/office/powerpoint/2010/main" val="355474551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85800" y="430000"/>
            <a:ext cx="1536000" cy="300000"/>
          </a:xfrm>
          <a:prstGeom prst="roundRect">
            <a:avLst>
              <a:gd name="adj" fmla="val 50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ja-JP" altLang="en-US" sz="1050" b="1">
                <a:solidFill>
                  <a:srgbClr val="2563EB"/>
                </a:solidFill>
                <a:latin typeface="游ゴシック"/>
                <a:ea typeface="游ゴシック"/>
              </a:rPr>
              <a:t>STEP 2  初期設定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90000"/>
            <a:ext cx="10820400" cy="4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2300" b="1">
                <a:solidFill>
                  <a:srgbClr val="1F3864"/>
                </a:solidFill>
                <a:latin typeface="游ゴシック"/>
                <a:ea typeface="游ゴシック"/>
              </a:rPr>
              <a:t>PAT を取得する ④ 発行ダイアログを開く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180000"/>
            <a:ext cx="10820400" cy="12700"/>
          </a:xfrm>
          <a:prstGeom prst="rect">
            <a:avLst/>
          </a:prstGeom>
          <a:solidFill>
            <a:srgbClr val="D8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1380000"/>
            <a:ext cx="3500000" cy="47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① 「NewtonX ADK Token 発行」ダイアログが開きます。</a:t>
            </a:r>
          </a:p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② 「トークン名」が空のあいだは「発行する」を押せません。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5131780"/>
            <a:ext cx="3500000" cy="998220"/>
          </a:xfrm>
          <a:prstGeom prst="roundRect">
            <a:avLst>
              <a:gd name="adj" fmla="val 8000"/>
            </a:avLst>
          </a:prstGeom>
          <a:solidFill>
            <a:srgbClr val="FFF8E8"/>
          </a:solidFill>
          <a:ln w="9525">
            <a:solidFill>
              <a:srgbClr val="E8C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91440" bIns="91440" rtlCol="0" anchor="t"/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300"/>
              </a:spcAft>
            </a:pPr>
            <a:r>
              <a:rPr lang="ja-JP" altLang="en-US" sz="1000" b="1">
                <a:solidFill>
                  <a:srgbClr val="8A5A00"/>
                </a:solidFill>
                <a:latin typeface="游ゴシック"/>
                <a:ea typeface="游ゴシック"/>
              </a:rPr>
              <a:t>補足</a:t>
            </a:r>
          </a:p>
          <a:p>
            <a:pPr algn="l" eaLnBrk="1" latinLnBrk="0" hangingPunct="1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1000" b="0">
                <a:solidFill>
                  <a:srgbClr val="8A5A00"/>
                </a:solidFill>
                <a:latin typeface="游ゴシック"/>
                <a:ea typeface="游ゴシック"/>
              </a:rPr>
              <a:t>トークン名は、あとから一覧で見分けるための名前です。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685800" y="6280000"/>
            <a:ext cx="50000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900" b="0">
                <a:solidFill>
                  <a:srgbClr val="7A7A7A"/>
                </a:solidFill>
                <a:latin typeface="游ゴシック"/>
                <a:ea typeface="游ゴシック"/>
              </a:rPr>
              <a:t>ミチナリ ユーザ手順書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9506200" y="6280000"/>
            <a:ext cx="20000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900" b="0">
                <a:solidFill>
                  <a:srgbClr val="7A7A7A"/>
                </a:solidFill>
                <a:latin typeface="游ゴシック"/>
                <a:ea typeface="游ゴシック"/>
              </a:rPr>
              <a:t>9 / 34</a:t>
            </a:r>
          </a:p>
        </p:txBody>
      </p:sp>
      <p:pic>
        <p:nvPicPr>
          <p:cNvPr id="9" name="図 2" descr="The image shows a user interface with a field for entering a token name, with options to cancel or proceed with the token generation.&#10;&#10;AI 生成コンテンツは誤りを含む可能性があります。">
            <a:extLst>
              <a:ext uri="{FF2B5EF4-FFF2-40B4-BE49-F238E27FC236}">
                <a16:creationId xmlns:a16="http://schemas.microsoft.com/office/drawing/2014/main" id="{A9668B4F-A798-988A-849D-4A6882334B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06000" y="2577371"/>
            <a:ext cx="5600000" cy="2355257"/>
          </a:xfrm>
          <a:prstGeom prst="rect">
            <a:avLst/>
          </a:prstGeom>
          <a:ln w="9525">
            <a:solidFill>
              <a:srgbClr val="C9CFD8"/>
            </a:solidFill>
          </a:ln>
        </p:spPr>
      </p:pic>
    </p:spTree>
    <p:extLst>
      <p:ext uri="{BB962C8B-B14F-4D97-AF65-F5344CB8AC3E}">
        <p14:creationId xmlns:p14="http://schemas.microsoft.com/office/powerpoint/2010/main" val="149791554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85800" y="430000"/>
            <a:ext cx="1536000" cy="300000"/>
          </a:xfrm>
          <a:prstGeom prst="roundRect">
            <a:avLst>
              <a:gd name="adj" fmla="val 50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ja-JP" altLang="en-US" sz="1050" b="1">
                <a:solidFill>
                  <a:srgbClr val="2563EB"/>
                </a:solidFill>
                <a:latin typeface="游ゴシック"/>
                <a:ea typeface="游ゴシック"/>
              </a:rPr>
              <a:t>STEP 2  初期設定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90000"/>
            <a:ext cx="10820400" cy="4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2300" b="1">
                <a:solidFill>
                  <a:srgbClr val="1F3864"/>
                </a:solidFill>
                <a:latin typeface="游ゴシック"/>
                <a:ea typeface="游ゴシック"/>
              </a:rPr>
              <a:t>PAT を取得する ⑤ トークン名を入力して発行する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180000"/>
            <a:ext cx="10820400" cy="12700"/>
          </a:xfrm>
          <a:prstGeom prst="rect">
            <a:avLst/>
          </a:prstGeom>
          <a:solidFill>
            <a:srgbClr val="D8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1380000"/>
            <a:ext cx="3500000" cy="47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① 「トークン名」に、用途がわかる名前を入力します（例：ミチナリ）。</a:t>
            </a:r>
          </a:p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② 「発行する」をクリックします。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5131780"/>
            <a:ext cx="3500000" cy="998220"/>
          </a:xfrm>
          <a:prstGeom prst="roundRect">
            <a:avLst>
              <a:gd name="adj" fmla="val 8000"/>
            </a:avLst>
          </a:prstGeom>
          <a:solidFill>
            <a:srgbClr val="FFF8E8"/>
          </a:solidFill>
          <a:ln w="9525">
            <a:solidFill>
              <a:srgbClr val="E8C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91440" bIns="91440" rtlCol="0" anchor="t"/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300"/>
              </a:spcAft>
            </a:pPr>
            <a:r>
              <a:rPr lang="ja-JP" altLang="en-US" sz="1000" b="1">
                <a:solidFill>
                  <a:srgbClr val="8A5A00"/>
                </a:solidFill>
                <a:latin typeface="游ゴシック"/>
                <a:ea typeface="游ゴシック"/>
              </a:rPr>
              <a:t>補足</a:t>
            </a:r>
          </a:p>
          <a:p>
            <a:pPr algn="l" eaLnBrk="1" latinLnBrk="0" hangingPunct="1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1000" b="0">
                <a:solidFill>
                  <a:srgbClr val="8A5A00"/>
                </a:solidFill>
                <a:latin typeface="游ゴシック"/>
                <a:ea typeface="游ゴシック"/>
              </a:rPr>
              <a:t>用途ごとに分けて発行しておくと、あとで管理しやすくなります。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685800" y="6280000"/>
            <a:ext cx="50000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900" b="0">
                <a:solidFill>
                  <a:srgbClr val="7A7A7A"/>
                </a:solidFill>
                <a:latin typeface="游ゴシック"/>
                <a:ea typeface="游ゴシック"/>
              </a:rPr>
              <a:t>ミチナリ ユーザ手順書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9506200" y="6280000"/>
            <a:ext cx="20000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900" b="0">
                <a:solidFill>
                  <a:srgbClr val="7A7A7A"/>
                </a:solidFill>
                <a:latin typeface="游ゴシック"/>
                <a:ea typeface="游ゴシック"/>
              </a:rPr>
              <a:t>10 / 34</a:t>
            </a:r>
          </a:p>
        </p:txBody>
      </p:sp>
      <p:pic>
        <p:nvPicPr>
          <p:cNvPr id="9" name="図 2" descr="The image is a Japanese interface showing a NewX ADK Token with fields for entering the token's name (PAD), a cancel button, and a button to proceed with the token issuance.&#10;&#10;AI 生成コンテンツは誤りを含む可能性があります。">
            <a:extLst>
              <a:ext uri="{FF2B5EF4-FFF2-40B4-BE49-F238E27FC236}">
                <a16:creationId xmlns:a16="http://schemas.microsoft.com/office/drawing/2014/main" id="{765642D4-8ED1-47DA-E41F-999DF2E03E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06000" y="2588073"/>
            <a:ext cx="5600000" cy="2333854"/>
          </a:xfrm>
          <a:prstGeom prst="rect">
            <a:avLst/>
          </a:prstGeom>
          <a:ln w="9525">
            <a:solidFill>
              <a:srgbClr val="C9CFD8"/>
            </a:solidFill>
          </a:ln>
        </p:spPr>
      </p:pic>
    </p:spTree>
    <p:extLst>
      <p:ext uri="{BB962C8B-B14F-4D97-AF65-F5344CB8AC3E}">
        <p14:creationId xmlns:p14="http://schemas.microsoft.com/office/powerpoint/2010/main" val="145786872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85800" y="430000"/>
            <a:ext cx="1536000" cy="300000"/>
          </a:xfrm>
          <a:prstGeom prst="roundRect">
            <a:avLst>
              <a:gd name="adj" fmla="val 50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ja-JP" altLang="en-US" sz="1050" b="1">
                <a:solidFill>
                  <a:srgbClr val="2563EB"/>
                </a:solidFill>
                <a:latin typeface="游ゴシック"/>
                <a:ea typeface="游ゴシック"/>
              </a:rPr>
              <a:t>STEP 2  初期設定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90000"/>
            <a:ext cx="10820400" cy="4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2300" b="1">
                <a:solidFill>
                  <a:srgbClr val="1F3864"/>
                </a:solidFill>
                <a:latin typeface="游ゴシック"/>
                <a:ea typeface="游ゴシック"/>
              </a:rPr>
              <a:t>PAT を取得する ⑥ トークンをコピーする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180000"/>
            <a:ext cx="10820400" cy="12700"/>
          </a:xfrm>
          <a:prstGeom prst="rect">
            <a:avLst/>
          </a:prstGeom>
          <a:solidFill>
            <a:srgbClr val="D8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1380000"/>
            <a:ext cx="3500000" cy="47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① 「NewtonX ADK Token が生成されました」と表示されます。</a:t>
            </a:r>
          </a:p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② 右側のコピーアイコンを押して、トークンをコピーします。</a:t>
            </a:r>
          </a:p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③ 目のアイコンを押すと、文字列を表示して確認できます。</a:t>
            </a:r>
          </a:p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④ 「閉じる」を押します。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5131780"/>
            <a:ext cx="3500000" cy="998220"/>
          </a:xfrm>
          <a:prstGeom prst="roundRect">
            <a:avLst>
              <a:gd name="adj" fmla="val 8000"/>
            </a:avLst>
          </a:prstGeom>
          <a:solidFill>
            <a:srgbClr val="FFF8E8"/>
          </a:solidFill>
          <a:ln w="9525">
            <a:solidFill>
              <a:srgbClr val="E8C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91440" bIns="91440" rtlCol="0" anchor="t"/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300"/>
              </a:spcAft>
            </a:pPr>
            <a:r>
              <a:rPr lang="ja-JP" altLang="en-US" sz="1000" b="1">
                <a:solidFill>
                  <a:srgbClr val="8A5A00"/>
                </a:solidFill>
                <a:latin typeface="游ゴシック"/>
                <a:ea typeface="游ゴシック"/>
              </a:rPr>
              <a:t>注意</a:t>
            </a:r>
          </a:p>
          <a:p>
            <a:pPr algn="l" eaLnBrk="1" latinLnBrk="0" hangingPunct="1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1000" b="0">
                <a:solidFill>
                  <a:srgbClr val="8A5A00"/>
                </a:solidFill>
                <a:latin typeface="游ゴシック"/>
                <a:ea typeface="游ゴシック"/>
              </a:rPr>
              <a:t>閉じると二度と表示されません。必ずコピーしてから閉じてください。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685800" y="6280000"/>
            <a:ext cx="50000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900" b="0">
                <a:solidFill>
                  <a:srgbClr val="7A7A7A"/>
                </a:solidFill>
                <a:latin typeface="游ゴシック"/>
                <a:ea typeface="游ゴシック"/>
              </a:rPr>
              <a:t>ミチナリ ユーザ手順書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9506200" y="6280000"/>
            <a:ext cx="20000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900" b="0">
                <a:solidFill>
                  <a:srgbClr val="7A7A7A"/>
                </a:solidFill>
                <a:latin typeface="游ゴシック"/>
                <a:ea typeface="游ゴシック"/>
              </a:rPr>
              <a:t>11 / 34</a:t>
            </a:r>
          </a:p>
        </p:txBody>
      </p:sp>
      <p:pic>
        <p:nvPicPr>
          <p:cNvPr id="9" name="図 2" descr="The image shows a Japanese interface with a dialogue indicating that a NewtonX ADK Token has been generated, instructing the user to copy and securely store the token, and warning that the dialogue cannot be closed and reopened.&#10;&#10;AI 生成コンテンツは誤りを含む可能性があります。">
            <a:extLst>
              <a:ext uri="{FF2B5EF4-FFF2-40B4-BE49-F238E27FC236}">
                <a16:creationId xmlns:a16="http://schemas.microsoft.com/office/drawing/2014/main" id="{5D4177D6-5999-D90D-40FA-4A0352509F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06000" y="2513667"/>
            <a:ext cx="5600000" cy="2482666"/>
          </a:xfrm>
          <a:prstGeom prst="rect">
            <a:avLst/>
          </a:prstGeom>
          <a:ln w="9525">
            <a:solidFill>
              <a:srgbClr val="C9CFD8"/>
            </a:solidFill>
          </a:ln>
        </p:spPr>
      </p:pic>
    </p:spTree>
    <p:extLst>
      <p:ext uri="{BB962C8B-B14F-4D97-AF65-F5344CB8AC3E}">
        <p14:creationId xmlns:p14="http://schemas.microsoft.com/office/powerpoint/2010/main" val="307802638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85800" y="430000"/>
            <a:ext cx="1536000" cy="300000"/>
          </a:xfrm>
          <a:prstGeom prst="roundRect">
            <a:avLst>
              <a:gd name="adj" fmla="val 50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ja-JP" altLang="en-US" sz="1050" b="1">
                <a:solidFill>
                  <a:srgbClr val="2563EB"/>
                </a:solidFill>
                <a:latin typeface="游ゴシック"/>
                <a:ea typeface="游ゴシック"/>
              </a:rPr>
              <a:t>STEP 2  初期設定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90000"/>
            <a:ext cx="10820400" cy="4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2300" b="1">
                <a:solidFill>
                  <a:srgbClr val="1F3864"/>
                </a:solidFill>
                <a:latin typeface="游ゴシック"/>
                <a:ea typeface="游ゴシック"/>
              </a:rPr>
              <a:t>PAT を取得する ⑦ 発行結果を確認する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180000"/>
            <a:ext cx="10820400" cy="12700"/>
          </a:xfrm>
          <a:prstGeom prst="rect">
            <a:avLst/>
          </a:prstGeom>
          <a:solidFill>
            <a:srgbClr val="D8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1380000"/>
            <a:ext cx="3500000" cy="47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① 一覧に、発行したトークンが追加されます。</a:t>
            </a:r>
          </a:p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② トークン名と有効期限を確認します。</a:t>
            </a:r>
          </a:p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③ 有効期限が切れたら、更新アイコンから再発行します。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5131780"/>
            <a:ext cx="3500000" cy="998220"/>
          </a:xfrm>
          <a:prstGeom prst="roundRect">
            <a:avLst>
              <a:gd name="adj" fmla="val 8000"/>
            </a:avLst>
          </a:prstGeom>
          <a:solidFill>
            <a:srgbClr val="FFF8E8"/>
          </a:solidFill>
          <a:ln w="9525">
            <a:solidFill>
              <a:srgbClr val="E8C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91440" bIns="91440" rtlCol="0" anchor="t"/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300"/>
              </a:spcAft>
            </a:pPr>
            <a:r>
              <a:rPr lang="ja-JP" altLang="en-US" sz="1000" b="1">
                <a:solidFill>
                  <a:srgbClr val="8A5A00"/>
                </a:solidFill>
                <a:latin typeface="游ゴシック"/>
                <a:ea typeface="游ゴシック"/>
              </a:rPr>
              <a:t>補足</a:t>
            </a:r>
          </a:p>
          <a:p>
            <a:pPr algn="l" eaLnBrk="1" latinLnBrk="0" hangingPunct="1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1000" b="0">
                <a:solidFill>
                  <a:srgbClr val="8A5A00"/>
                </a:solidFill>
                <a:latin typeface="游ゴシック"/>
                <a:ea typeface="游ゴシック"/>
              </a:rPr>
              <a:t>コピーしたトークンは、次ページの AI 接続設定で貼り付けます。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685800" y="6280000"/>
            <a:ext cx="50000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900" b="0">
                <a:solidFill>
                  <a:srgbClr val="7A7A7A"/>
                </a:solidFill>
                <a:latin typeface="游ゴシック"/>
                <a:ea typeface="游ゴシック"/>
              </a:rPr>
              <a:t>ミチナリ ユーザ手順書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9506200" y="6280000"/>
            <a:ext cx="20000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900" b="0">
                <a:solidFill>
                  <a:srgbClr val="7A7A7A"/>
                </a:solidFill>
                <a:latin typeface="游ゴシック"/>
                <a:ea typeface="游ゴシック"/>
              </a:rPr>
              <a:t>12 / 34</a:t>
            </a:r>
          </a:p>
        </p:txBody>
      </p:sp>
      <p:pic>
        <p:nvPicPr>
          <p:cNvPr id="9" name="図 2">
            <a:extLst>
              <a:ext uri="{FF2B5EF4-FFF2-40B4-BE49-F238E27FC236}">
                <a16:creationId xmlns:a16="http://schemas.microsoft.com/office/drawing/2014/main" id="{75E8EA6E-9B92-1D4B-9A91-CC19E632A3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5800" y="2025986"/>
            <a:ext cx="7000400" cy="3458028"/>
          </a:xfrm>
          <a:prstGeom prst="rect">
            <a:avLst/>
          </a:prstGeom>
          <a:ln w="9525">
            <a:solidFill>
              <a:srgbClr val="C9CFD8"/>
            </a:solidFill>
          </a:ln>
        </p:spPr>
      </p:pic>
    </p:spTree>
    <p:extLst>
      <p:ext uri="{BB962C8B-B14F-4D97-AF65-F5344CB8AC3E}">
        <p14:creationId xmlns:p14="http://schemas.microsoft.com/office/powerpoint/2010/main" val="136264578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85800" y="430000"/>
            <a:ext cx="1536000" cy="300000"/>
          </a:xfrm>
          <a:prstGeom prst="roundRect">
            <a:avLst>
              <a:gd name="adj" fmla="val 50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ja-JP" altLang="en-US" sz="1050" b="1">
                <a:solidFill>
                  <a:srgbClr val="2563EB"/>
                </a:solidFill>
                <a:latin typeface="游ゴシック"/>
                <a:ea typeface="游ゴシック"/>
              </a:rPr>
              <a:t>STEP 2  初期設定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90000"/>
            <a:ext cx="10820400" cy="4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2300" b="1">
                <a:solidFill>
                  <a:srgbClr val="1F3864"/>
                </a:solidFill>
                <a:latin typeface="游ゴシック"/>
                <a:ea typeface="游ゴシック"/>
              </a:rPr>
              <a:t>AI 接続を設定する（設定 → AI接続）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180000"/>
            <a:ext cx="10820400" cy="12700"/>
          </a:xfrm>
          <a:prstGeom prst="rect">
            <a:avLst/>
          </a:prstGeom>
          <a:solidFill>
            <a:srgbClr val="D8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1380000"/>
            <a:ext cx="3500000" cy="47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① 上部メニューの「設定」を開きます。</a:t>
            </a:r>
          </a:p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② 「接続先URL（テナントホスト）」を、ご所属に応じて次のとおり入力します。</a:t>
            </a:r>
          </a:p>
          <a:p>
            <a:pPr algn="l" eaLnBrk="1" latinLnBrk="0" hangingPunct="1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lang="ja-JP" altLang="en-US" sz="1100" b="0">
                <a:solidFill>
                  <a:srgbClr val="333333"/>
                </a:solidFill>
                <a:latin typeface="游ゴシック"/>
                <a:ea typeface="游ゴシック"/>
              </a:rPr>
              <a:t>・セラク内勤者：seraku.newton-x.net</a:t>
            </a:r>
          </a:p>
          <a:p>
            <a:pPr algn="l" eaLnBrk="1" latinLnBrk="0" hangingPunct="1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lang="ja-JP" altLang="en-US" sz="1100" b="0">
                <a:solidFill>
                  <a:srgbClr val="333333"/>
                </a:solidFill>
                <a:latin typeface="游ゴシック"/>
                <a:ea typeface="游ゴシック"/>
              </a:rPr>
              <a:t>・セラク常駐者：seraku-ex.newton-x.net</a:t>
            </a:r>
          </a:p>
          <a:p>
            <a:pPr algn="l" eaLnBrk="1" latinLnBrk="0" hangingPunct="1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lang="ja-JP" altLang="en-US" sz="1100" b="0">
                <a:solidFill>
                  <a:srgbClr val="333333"/>
                </a:solidFill>
                <a:latin typeface="游ゴシック"/>
                <a:ea typeface="游ゴシック"/>
              </a:rPr>
              <a:t>・セラクビジネスソリューションズ：bs-seraku.newton-x.net</a:t>
            </a:r>
          </a:p>
          <a:p>
            <a:pPr algn="l" eaLnBrk="1" latinLnBrk="0" hangingPunct="1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lang="ja-JP" altLang="en-US" sz="1100" b="0">
                <a:solidFill>
                  <a:srgbClr val="333333"/>
                </a:solidFill>
                <a:latin typeface="游ゴシック"/>
                <a:ea typeface="游ゴシック"/>
              </a:rPr>
              <a:t>・AND Think：andthink.newton-x.net</a:t>
            </a:r>
          </a:p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③ 「Personal Access Token」に、コピーしたトークンを貼り付け、「再認証する」を押します。</a:t>
            </a:r>
          </a:p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④ 用途ごとのアシスタントは既定値のまま利用できます。変更したいときだけ選び直します。</a:t>
            </a:r>
          </a:p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⑤ 「保存」を押します。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5131780"/>
            <a:ext cx="3500000" cy="998220"/>
          </a:xfrm>
          <a:prstGeom prst="roundRect">
            <a:avLst>
              <a:gd name="adj" fmla="val 8000"/>
            </a:avLst>
          </a:prstGeom>
          <a:solidFill>
            <a:srgbClr val="FFF8E8"/>
          </a:solidFill>
          <a:ln w="9525">
            <a:solidFill>
              <a:srgbClr val="E8C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91440" bIns="91440" rtlCol="0" anchor="t"/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300"/>
              </a:spcAft>
            </a:pPr>
            <a:r>
              <a:rPr lang="ja-JP" altLang="en-US" sz="1000" b="1">
                <a:solidFill>
                  <a:srgbClr val="8A5A00"/>
                </a:solidFill>
                <a:latin typeface="游ゴシック"/>
                <a:ea typeface="游ゴシック"/>
              </a:rPr>
              <a:t>注意</a:t>
            </a:r>
          </a:p>
          <a:p>
            <a:pPr algn="l" eaLnBrk="1" latinLnBrk="0" hangingPunct="1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1000" b="0">
                <a:solidFill>
                  <a:srgbClr val="8A5A00"/>
                </a:solidFill>
                <a:latin typeface="游ゴシック"/>
                <a:ea typeface="游ゴシック"/>
              </a:rPr>
              <a:t>一覧にない場合は、NewtonXにログインするURL https://xxx.newton-x.net の xxx 部分です。誤ると「認証済み」表示のままエラーになります。</a:t>
            </a:r>
          </a:p>
        </p:txBody>
      </p:sp>
      <p:pic>
        <p:nvPicPr>
          <p:cNvPr id="7" name="Picture 6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5800" y="1533134"/>
            <a:ext cx="7000400" cy="4443732"/>
          </a:xfrm>
          <a:prstGeom prst="rect">
            <a:avLst/>
          </a:prstGeom>
          <a:ln w="9525">
            <a:solidFill>
              <a:srgbClr val="C9CFD8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685800" y="6280000"/>
            <a:ext cx="50000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900" b="0">
                <a:solidFill>
                  <a:srgbClr val="7A7A7A"/>
                </a:solidFill>
                <a:latin typeface="游ゴシック"/>
                <a:ea typeface="游ゴシック"/>
              </a:rPr>
              <a:t>ミチナリ ユーザ手順書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6200" y="6280000"/>
            <a:ext cx="20000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900" b="0">
                <a:solidFill>
                  <a:srgbClr val="7A7A7A"/>
                </a:solidFill>
                <a:latin typeface="游ゴシック"/>
                <a:ea typeface="游ゴシック"/>
              </a:rPr>
              <a:t>13 / 34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726200" y="1400000"/>
            <a:ext cx="1400000" cy="380000"/>
          </a:xfrm>
          <a:prstGeom prst="roundRect">
            <a:avLst>
              <a:gd name="adj" fmla="val 40000"/>
            </a:avLst>
          </a:prstGeom>
          <a:solidFill>
            <a:srgbClr val="2A4A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algn="ctr"/>
            <a:r>
              <a:rPr lang="ja-JP" altLang="en-US" sz="1000" b="0">
                <a:solidFill>
                  <a:srgbClr val="9CB3D9"/>
                </a:solidFill>
                <a:latin typeface="游ゴシック"/>
                <a:ea typeface="游ゴシック"/>
                <a:cs typeface="游ゴシック"/>
              </a:rPr>
              <a:t>1 セットアップ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186200" y="1400000"/>
            <a:ext cx="1400000" cy="380000"/>
          </a:xfrm>
          <a:prstGeom prst="roundRect">
            <a:avLst>
              <a:gd name="adj" fmla="val 40000"/>
            </a:avLst>
          </a:prstGeom>
          <a:solidFill>
            <a:srgbClr val="7FB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algn="ctr"/>
            <a:r>
              <a:rPr lang="ja-JP" altLang="en-US" sz="1000" b="1">
                <a:solidFill>
                  <a:srgbClr val="1F3864"/>
                </a:solidFill>
                <a:latin typeface="游ゴシック"/>
                <a:ea typeface="游ゴシック"/>
                <a:cs typeface="游ゴシック"/>
              </a:rPr>
              <a:t>2 目標をつくる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46200" y="1400000"/>
            <a:ext cx="1400000" cy="380000"/>
          </a:xfrm>
          <a:prstGeom prst="roundRect">
            <a:avLst>
              <a:gd name="adj" fmla="val 40000"/>
            </a:avLst>
          </a:prstGeom>
          <a:solidFill>
            <a:srgbClr val="2A4A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algn="ctr"/>
            <a:r>
              <a:rPr lang="ja-JP" altLang="en-US" sz="1000" b="0">
                <a:solidFill>
                  <a:srgbClr val="9CB3D9"/>
                </a:solidFill>
                <a:latin typeface="游ゴシック"/>
                <a:ea typeface="游ゴシック"/>
                <a:cs typeface="游ゴシック"/>
              </a:rPr>
              <a:t>3 毎日つかう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106200" y="1400000"/>
            <a:ext cx="1400000" cy="380000"/>
          </a:xfrm>
          <a:prstGeom prst="roundRect">
            <a:avLst>
              <a:gd name="adj" fmla="val 40000"/>
            </a:avLst>
          </a:prstGeom>
          <a:solidFill>
            <a:srgbClr val="2A4A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algn="ctr"/>
            <a:r>
              <a:rPr lang="ja-JP" altLang="en-US" sz="1000" b="0">
                <a:solidFill>
                  <a:srgbClr val="9CB3D9"/>
                </a:solidFill>
                <a:latin typeface="游ゴシック"/>
                <a:ea typeface="游ゴシック"/>
                <a:cs typeface="游ゴシック"/>
              </a:rPr>
              <a:t>4 整理する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00000"/>
            <a:ext cx="4000000" cy="38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1400" b="1">
                <a:solidFill>
                  <a:srgbClr val="7FB0FF"/>
                </a:solidFill>
                <a:latin typeface="游ゴシック"/>
                <a:ea typeface="游ゴシック"/>
                <a:cs typeface="游ゴシック"/>
              </a:rPr>
              <a:t>PART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880000"/>
            <a:ext cx="9000000" cy="9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3600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目標をつくる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2960000"/>
            <a:ext cx="1400000" cy="45720"/>
          </a:xfrm>
          <a:prstGeom prst="rect">
            <a:avLst/>
          </a:prstGeom>
          <a:solidFill>
            <a:srgbClr val="7FB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5800" y="3200000"/>
            <a:ext cx="9000000" cy="42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1600" b="0">
                <a:solidFill>
                  <a:srgbClr val="D8DDE5"/>
                </a:solidFill>
                <a:latin typeface="游ゴシック"/>
                <a:ea typeface="游ゴシック"/>
                <a:cs typeface="游ゴシック"/>
              </a:rPr>
              <a:t>学習する目標を登録し、科目・教材・時間配分を整えます。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800000"/>
            <a:ext cx="9000000" cy="3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1100" b="1">
                <a:solidFill>
                  <a:srgbClr val="9CB3D9"/>
                </a:solidFill>
                <a:latin typeface="游ゴシック"/>
                <a:ea typeface="游ゴシック"/>
                <a:cs typeface="游ゴシック"/>
              </a:rPr>
              <a:t>このパートに含まれる手順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4160000"/>
            <a:ext cx="9000000" cy="8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lang="ja-JP" altLang="en-US" sz="1400" b="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STEP 3　目標をつくる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lang="ja-JP" altLang="en-US" sz="1400" b="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STEP 4　目標の中身を整える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5150000"/>
            <a:ext cx="8200000" cy="720000"/>
          </a:xfrm>
          <a:prstGeom prst="roundRect">
            <a:avLst>
              <a:gd name="adj" fmla="val 8000"/>
            </a:avLst>
          </a:prstGeom>
          <a:solidFill>
            <a:srgbClr val="2A4A7F"/>
          </a:solidFill>
          <a:ln w="9525">
            <a:solidFill>
              <a:srgbClr val="7FB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lang="ja-JP" altLang="en-US" sz="1300" b="1">
                <a:solidFill>
                  <a:srgbClr val="7FB0FF"/>
                </a:solidFill>
                <a:latin typeface="游ゴシック"/>
                <a:ea typeface="游ゴシック"/>
                <a:cs typeface="游ゴシック"/>
              </a:rPr>
              <a:t>ゴール　</a:t>
            </a:r>
            <a:r>
              <a:rPr lang="ja-JP" altLang="en-US" sz="1300" b="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このパートが終わると、日々のノルマが自動で算出されるようになります。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6280000"/>
            <a:ext cx="5000000" cy="26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900" b="0">
                <a:solidFill>
                  <a:srgbClr val="9CB3D9"/>
                </a:solidFill>
                <a:latin typeface="游ゴシック"/>
                <a:ea typeface="游ゴシック"/>
                <a:cs typeface="游ゴシック"/>
              </a:rPr>
              <a:t>ミチナリ ユーザ手順書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6200" y="6280000"/>
            <a:ext cx="2000000" cy="26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900" b="0">
                <a:solidFill>
                  <a:srgbClr val="9CB3D9"/>
                </a:solidFill>
                <a:latin typeface="游ゴシック"/>
                <a:ea typeface="游ゴシック"/>
                <a:cs typeface="游ゴシック"/>
              </a:rPr>
              <a:t>14 / 34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85800" y="430000"/>
            <a:ext cx="1752000" cy="300000"/>
          </a:xfrm>
          <a:prstGeom prst="roundRect">
            <a:avLst>
              <a:gd name="adj" fmla="val 50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ja-JP" altLang="en-US" sz="1050" b="1">
                <a:solidFill>
                  <a:srgbClr val="2563EB"/>
                </a:solidFill>
                <a:latin typeface="游ゴシック"/>
                <a:ea typeface="游ゴシック"/>
              </a:rPr>
              <a:t>STEP 3  目標をつくる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90000"/>
            <a:ext cx="10820400" cy="4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2300" b="1">
                <a:solidFill>
                  <a:srgbClr val="1F3864"/>
                </a:solidFill>
                <a:latin typeface="游ゴシック"/>
                <a:ea typeface="游ゴシック"/>
              </a:rPr>
              <a:t>目標一覧を開く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180000"/>
            <a:ext cx="10820400" cy="12700"/>
          </a:xfrm>
          <a:prstGeom prst="rect">
            <a:avLst/>
          </a:prstGeom>
          <a:solidFill>
            <a:srgbClr val="D8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1380000"/>
            <a:ext cx="3500000" cy="47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① 上部メニューの「目標一覧」を開きます。</a:t>
            </a:r>
          </a:p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② 登録済みの目標が、種別（資格試験／読書／仕事）と状態とあわせて一覧表示されます。</a:t>
            </a:r>
          </a:p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③ 目標名をクリックすると、詳細・編集画面へ移動します。</a:t>
            </a:r>
          </a:p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④ 資格試験の目標は「結果登録」から受験結果の登録へ進めます。</a:t>
            </a:r>
          </a:p>
        </p:txBody>
      </p:sp>
      <p:pic>
        <p:nvPicPr>
          <p:cNvPr id="6" name="Picture 5" descr="image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5800" y="1645905"/>
            <a:ext cx="7000400" cy="4218189"/>
          </a:xfrm>
          <a:prstGeom prst="rect">
            <a:avLst/>
          </a:prstGeom>
          <a:ln w="9525">
            <a:solidFill>
              <a:srgbClr val="C9CFD8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685800" y="6280000"/>
            <a:ext cx="50000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900" b="0">
                <a:solidFill>
                  <a:srgbClr val="7A7A7A"/>
                </a:solidFill>
                <a:latin typeface="游ゴシック"/>
                <a:ea typeface="游ゴシック"/>
              </a:rPr>
              <a:t>ミチナリ ユーザ手順書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6200" y="6280000"/>
            <a:ext cx="20000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900" b="0">
                <a:solidFill>
                  <a:srgbClr val="7A7A7A"/>
                </a:solidFill>
                <a:latin typeface="游ゴシック"/>
                <a:ea typeface="游ゴシック"/>
              </a:rPr>
              <a:t>15 / 34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85800" y="430000"/>
            <a:ext cx="1752000" cy="300000"/>
          </a:xfrm>
          <a:prstGeom prst="roundRect">
            <a:avLst>
              <a:gd name="adj" fmla="val 50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ja-JP" altLang="en-US" sz="1050" b="1">
                <a:solidFill>
                  <a:srgbClr val="2563EB"/>
                </a:solidFill>
                <a:latin typeface="游ゴシック"/>
                <a:ea typeface="游ゴシック"/>
              </a:rPr>
              <a:t>STEP 3  目標をつくる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90000"/>
            <a:ext cx="10820400" cy="4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2300" b="1">
                <a:solidFill>
                  <a:srgbClr val="1F3864"/>
                </a:solidFill>
                <a:latin typeface="游ゴシック"/>
                <a:ea typeface="游ゴシック"/>
              </a:rPr>
              <a:t>新規目標を作成する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180000"/>
            <a:ext cx="10820400" cy="12700"/>
          </a:xfrm>
          <a:prstGeom prst="rect">
            <a:avLst/>
          </a:prstGeom>
          <a:solidFill>
            <a:srgbClr val="D8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1380000"/>
            <a:ext cx="3500000" cy="47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① 「新規目標作成」をクリックします。</a:t>
            </a:r>
          </a:p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② 「目標種別」で 資格試験／読書／仕事 のいずれかを選びます。</a:t>
            </a:r>
          </a:p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③ 試験名と開始日を入力します。</a:t>
            </a:r>
          </a:p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④ 「保存」を押すと目標が作成されます。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5303230"/>
            <a:ext cx="3500000" cy="826770"/>
          </a:xfrm>
          <a:prstGeom prst="roundRect">
            <a:avLst>
              <a:gd name="adj" fmla="val 8000"/>
            </a:avLst>
          </a:prstGeom>
          <a:solidFill>
            <a:srgbClr val="FFF8E8"/>
          </a:solidFill>
          <a:ln w="9525">
            <a:solidFill>
              <a:srgbClr val="E8C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91440" bIns="91440" rtlCol="0" anchor="t"/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300"/>
              </a:spcAft>
            </a:pPr>
            <a:r>
              <a:rPr lang="ja-JP" altLang="en-US" sz="1000" b="1">
                <a:solidFill>
                  <a:srgbClr val="8A5A00"/>
                </a:solidFill>
                <a:latin typeface="游ゴシック"/>
                <a:ea typeface="游ゴシック"/>
              </a:rPr>
              <a:t>補足</a:t>
            </a:r>
          </a:p>
          <a:p>
            <a:pPr algn="l" eaLnBrk="1" latinLnBrk="0" hangingPunct="1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1000" b="0">
                <a:solidFill>
                  <a:srgbClr val="8A5A00"/>
                </a:solidFill>
                <a:latin typeface="游ゴシック"/>
                <a:ea typeface="游ゴシック"/>
              </a:rPr>
              <a:t>選んだ種別によって、このあとの詳細画面のタブ構成が変わります。</a:t>
            </a:r>
          </a:p>
        </p:txBody>
      </p:sp>
      <p:pic>
        <p:nvPicPr>
          <p:cNvPr id="7" name="Picture 6" descr="image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5800" y="2415186"/>
            <a:ext cx="3376640" cy="2679627"/>
          </a:xfrm>
          <a:prstGeom prst="rect">
            <a:avLst/>
          </a:prstGeom>
          <a:ln w="9525">
            <a:solidFill>
              <a:srgbClr val="C9CFD8"/>
            </a:solidFill>
          </a:ln>
        </p:spPr>
      </p:pic>
      <p:pic>
        <p:nvPicPr>
          <p:cNvPr id="8" name="Picture 7" descr="image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62440" y="2397116"/>
            <a:ext cx="3443759" cy="2715768"/>
          </a:xfrm>
          <a:prstGeom prst="rect">
            <a:avLst/>
          </a:prstGeom>
          <a:ln w="9525">
            <a:solidFill>
              <a:srgbClr val="C9CFD8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685800" y="6280000"/>
            <a:ext cx="50000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900" b="0">
                <a:solidFill>
                  <a:srgbClr val="7A7A7A"/>
                </a:solidFill>
                <a:latin typeface="游ゴシック"/>
                <a:ea typeface="游ゴシック"/>
              </a:rPr>
              <a:t>ミチナリ ユーザ手順書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6200" y="6280000"/>
            <a:ext cx="20000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900" b="0">
                <a:solidFill>
                  <a:srgbClr val="7A7A7A"/>
                </a:solidFill>
                <a:latin typeface="游ゴシック"/>
                <a:ea typeface="游ゴシック"/>
              </a:rPr>
              <a:t>16 / 34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85800" y="430000"/>
            <a:ext cx="2076000" cy="300000"/>
          </a:xfrm>
          <a:prstGeom prst="roundRect">
            <a:avLst>
              <a:gd name="adj" fmla="val 50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ja-JP" altLang="en-US" sz="1050" b="1">
                <a:solidFill>
                  <a:srgbClr val="2563EB"/>
                </a:solidFill>
                <a:latin typeface="游ゴシック"/>
                <a:ea typeface="游ゴシック"/>
              </a:rPr>
              <a:t>STEP 4  目標の中身を整える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90000"/>
            <a:ext cx="10820400" cy="4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2300" b="1">
                <a:solidFill>
                  <a:srgbClr val="1F3864"/>
                </a:solidFill>
                <a:latin typeface="游ゴシック"/>
                <a:ea typeface="游ゴシック"/>
              </a:rPr>
              <a:t>基本情報タブ — 試験名・開始日を登録する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180000"/>
            <a:ext cx="10820400" cy="12700"/>
          </a:xfrm>
          <a:prstGeom prst="rect">
            <a:avLst/>
          </a:prstGeom>
          <a:solidFill>
            <a:srgbClr val="D8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1380000"/>
            <a:ext cx="3500000" cy="47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① 目標一覧から目標を選び、詳細画面を開きます。</a:t>
            </a:r>
          </a:p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② 「基本情報」タブで 試験名・開始日・備考 を入力します。</a:t>
            </a:r>
          </a:p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③ 「保存」を押します。</a:t>
            </a:r>
          </a:p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④ 右上の「一時停止する」「クローズする」で目標の状態を変更できます。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5131780"/>
            <a:ext cx="3500000" cy="998220"/>
          </a:xfrm>
          <a:prstGeom prst="roundRect">
            <a:avLst>
              <a:gd name="adj" fmla="val 8000"/>
            </a:avLst>
          </a:prstGeom>
          <a:solidFill>
            <a:srgbClr val="FFF8E8"/>
          </a:solidFill>
          <a:ln w="9525">
            <a:solidFill>
              <a:srgbClr val="E8C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91440" bIns="91440" rtlCol="0" anchor="t"/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300"/>
              </a:spcAft>
            </a:pPr>
            <a:r>
              <a:rPr lang="ja-JP" altLang="en-US" sz="1000" b="1">
                <a:solidFill>
                  <a:srgbClr val="8A5A00"/>
                </a:solidFill>
                <a:latin typeface="游ゴシック"/>
                <a:ea typeface="游ゴシック"/>
              </a:rPr>
              <a:t>補足</a:t>
            </a:r>
          </a:p>
          <a:p>
            <a:pPr algn="l" eaLnBrk="1" latinLnBrk="0" hangingPunct="1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1000" b="0">
                <a:solidFill>
                  <a:srgbClr val="8A5A00"/>
                </a:solidFill>
                <a:latin typeface="游ゴシック"/>
                <a:ea typeface="游ゴシック"/>
              </a:rPr>
              <a:t>資格試験の目標は、基本情報・試験科目・教材・リソース配分・負荷プロファイルの 5 タブで構成されます。</a:t>
            </a:r>
          </a:p>
        </p:txBody>
      </p:sp>
      <p:pic>
        <p:nvPicPr>
          <p:cNvPr id="7" name="Picture 6" descr="image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5800" y="1876620"/>
            <a:ext cx="7000400" cy="3756759"/>
          </a:xfrm>
          <a:prstGeom prst="rect">
            <a:avLst/>
          </a:prstGeom>
          <a:ln w="9525">
            <a:solidFill>
              <a:srgbClr val="C9CFD8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685800" y="6280000"/>
            <a:ext cx="50000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900" b="0">
                <a:solidFill>
                  <a:srgbClr val="7A7A7A"/>
                </a:solidFill>
                <a:latin typeface="游ゴシック"/>
                <a:ea typeface="游ゴシック"/>
              </a:rPr>
              <a:t>ミチナリ ユーザ手順書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6200" y="6280000"/>
            <a:ext cx="20000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900" b="0">
                <a:solidFill>
                  <a:srgbClr val="7A7A7A"/>
                </a:solidFill>
                <a:latin typeface="游ゴシック"/>
                <a:ea typeface="游ゴシック"/>
              </a:rPr>
              <a:t>17 / 34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85800" y="430000"/>
            <a:ext cx="2076000" cy="300000"/>
          </a:xfrm>
          <a:prstGeom prst="roundRect">
            <a:avLst>
              <a:gd name="adj" fmla="val 50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ja-JP" altLang="en-US" sz="1050" b="1">
                <a:solidFill>
                  <a:srgbClr val="2563EB"/>
                </a:solidFill>
                <a:latin typeface="游ゴシック"/>
                <a:ea typeface="游ゴシック"/>
              </a:rPr>
              <a:t>STEP 4  目標の中身を整える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90000"/>
            <a:ext cx="10820400" cy="4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2300" b="1">
                <a:solidFill>
                  <a:srgbClr val="1F3864"/>
                </a:solidFill>
                <a:latin typeface="游ゴシック"/>
                <a:ea typeface="游ゴシック"/>
              </a:rPr>
              <a:t>試験科目タブ — 受験する科目を登録する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180000"/>
            <a:ext cx="10820400" cy="12700"/>
          </a:xfrm>
          <a:prstGeom prst="rect">
            <a:avLst/>
          </a:prstGeom>
          <a:solidFill>
            <a:srgbClr val="D8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1380000"/>
            <a:ext cx="3500000" cy="47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① 「試験科目」タブを開き、「試験科目を追加」をクリックします。</a:t>
            </a:r>
          </a:p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② 科目名と受験日タイプ（期間／確定日）を選びます。</a:t>
            </a:r>
          </a:p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③ 期間開始日・期間終了日、合格点の入力方式、合格基準点を入力して「保存」を押します。</a:t>
            </a:r>
          </a:p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④ 受験日が決まったら「受験日を確定する」を押します。</a:t>
            </a:r>
          </a:p>
        </p:txBody>
      </p:sp>
      <p:pic>
        <p:nvPicPr>
          <p:cNvPr id="6" name="Picture 5" descr="image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86817" y="1380000"/>
            <a:ext cx="4438365" cy="2698503"/>
          </a:xfrm>
          <a:prstGeom prst="rect">
            <a:avLst/>
          </a:prstGeom>
          <a:ln w="9525">
            <a:solidFill>
              <a:srgbClr val="C9CFD8"/>
            </a:solidFill>
          </a:ln>
        </p:spPr>
      </p:pic>
      <p:pic>
        <p:nvPicPr>
          <p:cNvPr id="7" name="Picture 6" descr="image1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3542" y="4258503"/>
            <a:ext cx="3144915" cy="1871496"/>
          </a:xfrm>
          <a:prstGeom prst="rect">
            <a:avLst/>
          </a:prstGeom>
          <a:ln w="9525">
            <a:solidFill>
              <a:srgbClr val="C9CFD8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685800" y="6280000"/>
            <a:ext cx="50000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900" b="0">
                <a:solidFill>
                  <a:srgbClr val="7A7A7A"/>
                </a:solidFill>
                <a:latin typeface="游ゴシック"/>
                <a:ea typeface="游ゴシック"/>
              </a:rPr>
              <a:t>ミチナリ ユーザ手順書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6200" y="6280000"/>
            <a:ext cx="20000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900" b="0">
                <a:solidFill>
                  <a:srgbClr val="7A7A7A"/>
                </a:solidFill>
                <a:latin typeface="游ゴシック"/>
                <a:ea typeface="游ゴシック"/>
              </a:rPr>
              <a:t>18 / 34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85800" y="430000"/>
            <a:ext cx="2076000" cy="300000"/>
          </a:xfrm>
          <a:prstGeom prst="roundRect">
            <a:avLst>
              <a:gd name="adj" fmla="val 50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ja-JP" altLang="en-US" sz="1050" b="1">
                <a:solidFill>
                  <a:srgbClr val="2563EB"/>
                </a:solidFill>
                <a:latin typeface="游ゴシック"/>
                <a:ea typeface="游ゴシック"/>
              </a:rPr>
              <a:t>STEP 4  目標の中身を整える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90000"/>
            <a:ext cx="10820400" cy="4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2300" b="1">
                <a:solidFill>
                  <a:srgbClr val="1F3864"/>
                </a:solidFill>
                <a:latin typeface="游ゴシック"/>
                <a:ea typeface="游ゴシック"/>
              </a:rPr>
              <a:t>教材タブ — 使う教材と分量を登録する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180000"/>
            <a:ext cx="10820400" cy="12700"/>
          </a:xfrm>
          <a:prstGeom prst="rect">
            <a:avLst/>
          </a:prstGeom>
          <a:solidFill>
            <a:srgbClr val="D8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1380000"/>
            <a:ext cx="3500000" cy="47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① 「教材」タブを開き、「教材を追加」をクリックします。</a:t>
            </a:r>
          </a:p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② 教材名・分量の単位・総量（1周分）・予定周回数・対策する科目を入力します。</a:t>
            </a:r>
          </a:p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③ 開始日、必要連続時間、必要環境、品質指標の方式を設定して「保存」を押します。</a:t>
            </a:r>
          </a:p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④ 登録後は総作業量・現在周回・周回進捗・全体進捗が一覧に表示されます。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5303230"/>
            <a:ext cx="3500000" cy="826770"/>
          </a:xfrm>
          <a:prstGeom prst="roundRect">
            <a:avLst>
              <a:gd name="adj" fmla="val 8000"/>
            </a:avLst>
          </a:prstGeom>
          <a:solidFill>
            <a:srgbClr val="FFF8E8"/>
          </a:solidFill>
          <a:ln w="9525">
            <a:solidFill>
              <a:srgbClr val="E8C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91440" bIns="91440" rtlCol="0" anchor="t"/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300"/>
              </a:spcAft>
            </a:pPr>
            <a:r>
              <a:rPr lang="ja-JP" altLang="en-US" sz="1000" b="1">
                <a:solidFill>
                  <a:srgbClr val="8A5A00"/>
                </a:solidFill>
                <a:latin typeface="游ゴシック"/>
                <a:ea typeface="游ゴシック"/>
              </a:rPr>
              <a:t>補足</a:t>
            </a:r>
          </a:p>
          <a:p>
            <a:pPr algn="l" eaLnBrk="1" latinLnBrk="0" hangingPunct="1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1000" b="0">
                <a:solidFill>
                  <a:srgbClr val="8A5A00"/>
                </a:solidFill>
                <a:latin typeface="游ゴシック"/>
                <a:ea typeface="游ゴシック"/>
              </a:rPr>
              <a:t>日々のノルマは、ここで登録した分量と期限から自動で算出されます。</a:t>
            </a:r>
          </a:p>
        </p:txBody>
      </p:sp>
      <p:pic>
        <p:nvPicPr>
          <p:cNvPr id="7" name="Picture 6" descr="image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70547" y="1380000"/>
            <a:ext cx="4470905" cy="2748411"/>
          </a:xfrm>
          <a:prstGeom prst="rect">
            <a:avLst/>
          </a:prstGeom>
          <a:ln w="9525">
            <a:solidFill>
              <a:srgbClr val="C9CFD8"/>
            </a:solidFill>
          </a:ln>
        </p:spPr>
      </p:pic>
      <p:pic>
        <p:nvPicPr>
          <p:cNvPr id="8" name="Picture 7" descr="image1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4460" y="4308411"/>
            <a:ext cx="3203080" cy="1821588"/>
          </a:xfrm>
          <a:prstGeom prst="rect">
            <a:avLst/>
          </a:prstGeom>
          <a:ln w="9525">
            <a:solidFill>
              <a:srgbClr val="C9CFD8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685800" y="6280000"/>
            <a:ext cx="50000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900" b="0">
                <a:solidFill>
                  <a:srgbClr val="7A7A7A"/>
                </a:solidFill>
                <a:latin typeface="游ゴシック"/>
                <a:ea typeface="游ゴシック"/>
              </a:rPr>
              <a:t>ミチナリ ユーザ手順書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6200" y="6280000"/>
            <a:ext cx="20000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900" b="0">
                <a:solidFill>
                  <a:srgbClr val="7A7A7A"/>
                </a:solidFill>
                <a:latin typeface="游ゴシック"/>
                <a:ea typeface="游ゴシック"/>
              </a:rPr>
              <a:t>19 / 34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85800" y="430000"/>
            <a:ext cx="2076000" cy="300000"/>
          </a:xfrm>
          <a:prstGeom prst="roundRect">
            <a:avLst>
              <a:gd name="adj" fmla="val 50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ja-JP" altLang="en-US" sz="1050" b="1">
                <a:solidFill>
                  <a:srgbClr val="2563EB"/>
                </a:solidFill>
                <a:latin typeface="游ゴシック"/>
                <a:ea typeface="游ゴシック"/>
              </a:rPr>
              <a:t>STEP 4  目標の中身を整える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90000"/>
            <a:ext cx="10820400" cy="4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2300" b="1">
                <a:solidFill>
                  <a:srgbClr val="1F3864"/>
                </a:solidFill>
                <a:latin typeface="游ゴシック"/>
                <a:ea typeface="游ゴシック"/>
              </a:rPr>
              <a:t>リソース配分タブ — 学習時間の配分を決める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180000"/>
            <a:ext cx="10820400" cy="12700"/>
          </a:xfrm>
          <a:prstGeom prst="rect">
            <a:avLst/>
          </a:prstGeom>
          <a:solidFill>
            <a:srgbClr val="D8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1380000"/>
            <a:ext cx="3500000" cy="47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① 「リソース配分」タブを開きます。</a:t>
            </a:r>
          </a:p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② 「配分比率（%）」に、この目標へ充てる割合を入力します。</a:t>
            </a:r>
          </a:p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③ 「保存」を押します。</a:t>
            </a:r>
          </a:p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④ 学習に使える時間枠そのものは「学習環境の設定」で登録します。</a:t>
            </a:r>
          </a:p>
        </p:txBody>
      </p:sp>
      <p:pic>
        <p:nvPicPr>
          <p:cNvPr id="6" name="Picture 5" descr="image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5800" y="2276269"/>
            <a:ext cx="7000400" cy="2957462"/>
          </a:xfrm>
          <a:prstGeom prst="rect">
            <a:avLst/>
          </a:prstGeom>
          <a:ln w="9525">
            <a:solidFill>
              <a:srgbClr val="C9CFD8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685800" y="6280000"/>
            <a:ext cx="50000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900" b="0">
                <a:solidFill>
                  <a:srgbClr val="7A7A7A"/>
                </a:solidFill>
                <a:latin typeface="游ゴシック"/>
                <a:ea typeface="游ゴシック"/>
              </a:rPr>
              <a:t>ミチナリ ユーザ手順書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6200" y="6280000"/>
            <a:ext cx="20000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900" b="0">
                <a:solidFill>
                  <a:srgbClr val="7A7A7A"/>
                </a:solidFill>
                <a:latin typeface="游ゴシック"/>
                <a:ea typeface="游ゴシック"/>
              </a:rPr>
              <a:t>20 / 34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85800" y="430000"/>
            <a:ext cx="2076000" cy="300000"/>
          </a:xfrm>
          <a:prstGeom prst="roundRect">
            <a:avLst>
              <a:gd name="adj" fmla="val 50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ja-JP" altLang="en-US" sz="1050" b="1">
                <a:solidFill>
                  <a:srgbClr val="2563EB"/>
                </a:solidFill>
                <a:latin typeface="游ゴシック"/>
                <a:ea typeface="游ゴシック"/>
              </a:rPr>
              <a:t>STEP 4  目標の中身を整える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90000"/>
            <a:ext cx="10820400" cy="4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2300" b="1">
                <a:solidFill>
                  <a:srgbClr val="1F3864"/>
                </a:solidFill>
                <a:latin typeface="游ゴシック"/>
                <a:ea typeface="游ゴシック"/>
              </a:rPr>
              <a:t>負荷プロファイルタブ — 期間ごとに負荷を調整する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180000"/>
            <a:ext cx="10820400" cy="12700"/>
          </a:xfrm>
          <a:prstGeom prst="rect">
            <a:avLst/>
          </a:prstGeom>
          <a:solidFill>
            <a:srgbClr val="D8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1380000"/>
            <a:ext cx="3500000" cy="47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① 「負荷プロファイル」タブを開き、「負荷プロファイルを追加」をクリックします。</a:t>
            </a:r>
          </a:p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② 適用開始日・適用終了日を入力します。</a:t>
            </a:r>
          </a:p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③ 負荷係数（既定 1.0）とメモを入力して「保存」を押します。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5303230"/>
            <a:ext cx="3500000" cy="826770"/>
          </a:xfrm>
          <a:prstGeom prst="roundRect">
            <a:avLst>
              <a:gd name="adj" fmla="val 8000"/>
            </a:avLst>
          </a:prstGeom>
          <a:solidFill>
            <a:srgbClr val="FFF8E8"/>
          </a:solidFill>
          <a:ln w="9525">
            <a:solidFill>
              <a:srgbClr val="E8C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91440" bIns="91440" rtlCol="0" anchor="t"/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300"/>
              </a:spcAft>
            </a:pPr>
            <a:r>
              <a:rPr lang="ja-JP" altLang="en-US" sz="1000" b="1">
                <a:solidFill>
                  <a:srgbClr val="8A5A00"/>
                </a:solidFill>
                <a:latin typeface="游ゴシック"/>
                <a:ea typeface="游ゴシック"/>
              </a:rPr>
              <a:t>使いどころ</a:t>
            </a:r>
          </a:p>
          <a:p>
            <a:pPr algn="l" eaLnBrk="1" latinLnBrk="0" hangingPunct="1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1000" b="0">
                <a:solidFill>
                  <a:srgbClr val="8A5A00"/>
                </a:solidFill>
                <a:latin typeface="游ゴシック"/>
                <a:ea typeface="游ゴシック"/>
              </a:rPr>
              <a:t>出張・繁忙期など、一時的に学習量を増減させたい期間に設定します。</a:t>
            </a:r>
          </a:p>
        </p:txBody>
      </p:sp>
      <p:pic>
        <p:nvPicPr>
          <p:cNvPr id="7" name="Picture 6" descr="image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5800" y="1912622"/>
            <a:ext cx="7000400" cy="2037225"/>
          </a:xfrm>
          <a:prstGeom prst="rect">
            <a:avLst/>
          </a:prstGeom>
          <a:ln w="9525">
            <a:solidFill>
              <a:srgbClr val="C9CFD8"/>
            </a:solidFill>
          </a:ln>
        </p:spPr>
      </p:pic>
      <p:pic>
        <p:nvPicPr>
          <p:cNvPr id="8" name="Picture 7" descr="image1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10740" y="4129847"/>
            <a:ext cx="4990519" cy="1467531"/>
          </a:xfrm>
          <a:prstGeom prst="rect">
            <a:avLst/>
          </a:prstGeom>
          <a:ln w="9525">
            <a:solidFill>
              <a:srgbClr val="C9CFD8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685800" y="6280000"/>
            <a:ext cx="50000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900" b="0">
                <a:solidFill>
                  <a:srgbClr val="7A7A7A"/>
                </a:solidFill>
                <a:latin typeface="游ゴシック"/>
                <a:ea typeface="游ゴシック"/>
              </a:rPr>
              <a:t>ミチナリ ユーザ手順書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6200" y="6280000"/>
            <a:ext cx="20000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900" b="0">
                <a:solidFill>
                  <a:srgbClr val="7A7A7A"/>
                </a:solidFill>
                <a:latin typeface="游ゴシック"/>
                <a:ea typeface="游ゴシック"/>
              </a:rPr>
              <a:t>21 / 34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726200" y="1400000"/>
            <a:ext cx="1400000" cy="380000"/>
          </a:xfrm>
          <a:prstGeom prst="roundRect">
            <a:avLst>
              <a:gd name="adj" fmla="val 40000"/>
            </a:avLst>
          </a:prstGeom>
          <a:solidFill>
            <a:srgbClr val="2A4A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algn="ctr"/>
            <a:r>
              <a:rPr lang="ja-JP" altLang="en-US" sz="1000" b="0">
                <a:solidFill>
                  <a:srgbClr val="9CB3D9"/>
                </a:solidFill>
                <a:latin typeface="游ゴシック"/>
                <a:ea typeface="游ゴシック"/>
                <a:cs typeface="游ゴシック"/>
              </a:rPr>
              <a:t>1 セットアップ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186200" y="1400000"/>
            <a:ext cx="1400000" cy="380000"/>
          </a:xfrm>
          <a:prstGeom prst="roundRect">
            <a:avLst>
              <a:gd name="adj" fmla="val 40000"/>
            </a:avLst>
          </a:prstGeom>
          <a:solidFill>
            <a:srgbClr val="2A4A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algn="ctr"/>
            <a:r>
              <a:rPr lang="ja-JP" altLang="en-US" sz="1000" b="0">
                <a:solidFill>
                  <a:srgbClr val="9CB3D9"/>
                </a:solidFill>
                <a:latin typeface="游ゴシック"/>
                <a:ea typeface="游ゴシック"/>
                <a:cs typeface="游ゴシック"/>
              </a:rPr>
              <a:t>2 目標をつくる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46200" y="1400000"/>
            <a:ext cx="1400000" cy="380000"/>
          </a:xfrm>
          <a:prstGeom prst="roundRect">
            <a:avLst>
              <a:gd name="adj" fmla="val 40000"/>
            </a:avLst>
          </a:prstGeom>
          <a:solidFill>
            <a:srgbClr val="7FB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algn="ctr"/>
            <a:r>
              <a:rPr lang="ja-JP" altLang="en-US" sz="1000" b="1">
                <a:solidFill>
                  <a:srgbClr val="1F3864"/>
                </a:solidFill>
                <a:latin typeface="游ゴシック"/>
                <a:ea typeface="游ゴシック"/>
                <a:cs typeface="游ゴシック"/>
              </a:rPr>
              <a:t>3 毎日つかう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106200" y="1400000"/>
            <a:ext cx="1400000" cy="380000"/>
          </a:xfrm>
          <a:prstGeom prst="roundRect">
            <a:avLst>
              <a:gd name="adj" fmla="val 40000"/>
            </a:avLst>
          </a:prstGeom>
          <a:solidFill>
            <a:srgbClr val="2A4A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algn="ctr"/>
            <a:r>
              <a:rPr lang="ja-JP" altLang="en-US" sz="1000" b="0">
                <a:solidFill>
                  <a:srgbClr val="9CB3D9"/>
                </a:solidFill>
                <a:latin typeface="游ゴシック"/>
                <a:ea typeface="游ゴシック"/>
                <a:cs typeface="游ゴシック"/>
              </a:rPr>
              <a:t>4 整理する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00000"/>
            <a:ext cx="4000000" cy="38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1400" b="1">
                <a:solidFill>
                  <a:srgbClr val="7FB0FF"/>
                </a:solidFill>
                <a:latin typeface="游ゴシック"/>
                <a:ea typeface="游ゴシック"/>
                <a:cs typeface="游ゴシック"/>
              </a:rPr>
              <a:t>PART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880000"/>
            <a:ext cx="9000000" cy="9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3600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毎日つかう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2960000"/>
            <a:ext cx="1400000" cy="45720"/>
          </a:xfrm>
          <a:prstGeom prst="rect">
            <a:avLst/>
          </a:prstGeom>
          <a:solidFill>
            <a:srgbClr val="7FB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5800" y="3200000"/>
            <a:ext cx="9000000" cy="42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1600" b="0">
                <a:solidFill>
                  <a:srgbClr val="D8DDE5"/>
                </a:solidFill>
                <a:latin typeface="游ゴシック"/>
                <a:ea typeface="游ゴシック"/>
                <a:cs typeface="游ゴシック"/>
              </a:rPr>
              <a:t>日々の実績を記録し、分析画面でふりかえります。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800000"/>
            <a:ext cx="9000000" cy="3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1100" b="1">
                <a:solidFill>
                  <a:srgbClr val="9CB3D9"/>
                </a:solidFill>
                <a:latin typeface="游ゴシック"/>
                <a:ea typeface="游ゴシック"/>
                <a:cs typeface="游ゴシック"/>
              </a:rPr>
              <a:t>このパートに含まれる手順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4160000"/>
            <a:ext cx="9000000" cy="8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lang="ja-JP" altLang="en-US" sz="1400" b="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STEP 5　毎日記録する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lang="ja-JP" altLang="en-US" sz="1400" b="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STEP 6　ふりかえる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5150000"/>
            <a:ext cx="8200000" cy="720000"/>
          </a:xfrm>
          <a:prstGeom prst="roundRect">
            <a:avLst>
              <a:gd name="adj" fmla="val 8000"/>
            </a:avLst>
          </a:prstGeom>
          <a:solidFill>
            <a:srgbClr val="2A4A7F"/>
          </a:solidFill>
          <a:ln w="9525">
            <a:solidFill>
              <a:srgbClr val="7FB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lang="ja-JP" altLang="en-US" sz="1300" b="1">
                <a:solidFill>
                  <a:srgbClr val="7FB0FF"/>
                </a:solidFill>
                <a:latin typeface="游ゴシック"/>
                <a:ea typeface="游ゴシック"/>
                <a:cs typeface="游ゴシック"/>
              </a:rPr>
              <a:t>ゴール　</a:t>
            </a:r>
            <a:r>
              <a:rPr lang="ja-JP" altLang="en-US" sz="1300" b="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このパートをくり返すことで、計画が実績に合わせて調整されていきます。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6280000"/>
            <a:ext cx="5000000" cy="26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900" b="0">
                <a:solidFill>
                  <a:srgbClr val="9CB3D9"/>
                </a:solidFill>
                <a:latin typeface="游ゴシック"/>
                <a:ea typeface="游ゴシック"/>
                <a:cs typeface="游ゴシック"/>
              </a:rPr>
              <a:t>ミチナリ ユーザ手順書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6200" y="6280000"/>
            <a:ext cx="2000000" cy="26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900" b="0">
                <a:solidFill>
                  <a:srgbClr val="9CB3D9"/>
                </a:solidFill>
                <a:latin typeface="游ゴシック"/>
                <a:ea typeface="游ゴシック"/>
                <a:cs typeface="游ゴシック"/>
              </a:rPr>
              <a:t>22 / 34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85800" y="430000"/>
            <a:ext cx="1752000" cy="300000"/>
          </a:xfrm>
          <a:prstGeom prst="roundRect">
            <a:avLst>
              <a:gd name="adj" fmla="val 50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ja-JP" altLang="en-US" sz="1050" b="1">
                <a:solidFill>
                  <a:srgbClr val="2563EB"/>
                </a:solidFill>
                <a:latin typeface="游ゴシック"/>
                <a:ea typeface="游ゴシック"/>
              </a:rPr>
              <a:t>STEP 5  毎日記録する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90000"/>
            <a:ext cx="10820400" cy="4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2300" b="1">
                <a:solidFill>
                  <a:srgbClr val="1F3864"/>
                </a:solidFill>
                <a:latin typeface="游ゴシック"/>
                <a:ea typeface="游ゴシック"/>
              </a:rPr>
              <a:t>ダッシュボードで今日やることを確認する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180000"/>
            <a:ext cx="10820400" cy="12700"/>
          </a:xfrm>
          <a:prstGeom prst="rect">
            <a:avLst/>
          </a:prstGeom>
          <a:solidFill>
            <a:srgbClr val="D8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1380000"/>
            <a:ext cx="3500000" cy="47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① 起動時に最初に表示される画面です。</a:t>
            </a:r>
          </a:p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② 「今日の一言」、本日の状態（未入力／進捗のみ登録済／報告済）、本日のノルマ、目標カードを確認します。</a:t>
            </a:r>
          </a:p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③ 「本日の報告」ボタンから日次報告の入力に進みます。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5303230"/>
            <a:ext cx="3500000" cy="826770"/>
          </a:xfrm>
          <a:prstGeom prst="roundRect">
            <a:avLst>
              <a:gd name="adj" fmla="val 8000"/>
            </a:avLst>
          </a:prstGeom>
          <a:solidFill>
            <a:srgbClr val="FFF8E8"/>
          </a:solidFill>
          <a:ln w="9525">
            <a:solidFill>
              <a:srgbClr val="E8C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91440" bIns="91440" rtlCol="0" anchor="t"/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300"/>
              </a:spcAft>
            </a:pPr>
            <a:r>
              <a:rPr lang="ja-JP" altLang="en-US" sz="1000" b="1">
                <a:solidFill>
                  <a:srgbClr val="8A5A00"/>
                </a:solidFill>
                <a:latin typeface="游ゴシック"/>
                <a:ea typeface="游ゴシック"/>
              </a:rPr>
              <a:t>補足</a:t>
            </a:r>
          </a:p>
          <a:p>
            <a:pPr algn="l" eaLnBrk="1" latinLnBrk="0" hangingPunct="1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1000" b="0">
                <a:solidFill>
                  <a:srgbClr val="8A5A00"/>
                </a:solidFill>
                <a:latin typeface="游ゴシック"/>
                <a:ea typeface="游ゴシック"/>
              </a:rPr>
              <a:t>着手中の目標が 2 件以上あるときは、画面上部の目標タブで対象を切り替えます。</a:t>
            </a:r>
          </a:p>
        </p:txBody>
      </p:sp>
      <p:pic>
        <p:nvPicPr>
          <p:cNvPr id="7" name="Picture 6" descr="image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5800" y="1550569"/>
            <a:ext cx="7000400" cy="4408861"/>
          </a:xfrm>
          <a:prstGeom prst="rect">
            <a:avLst/>
          </a:prstGeom>
          <a:ln w="9525">
            <a:solidFill>
              <a:srgbClr val="C9CFD8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685800" y="6280000"/>
            <a:ext cx="50000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900" b="0">
                <a:solidFill>
                  <a:srgbClr val="7A7A7A"/>
                </a:solidFill>
                <a:latin typeface="游ゴシック"/>
                <a:ea typeface="游ゴシック"/>
              </a:rPr>
              <a:t>ミチナリ ユーザ手順書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6200" y="6280000"/>
            <a:ext cx="20000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900" b="0">
                <a:solidFill>
                  <a:srgbClr val="7A7A7A"/>
                </a:solidFill>
                <a:latin typeface="游ゴシック"/>
                <a:ea typeface="游ゴシック"/>
              </a:rPr>
              <a:t>23 / 34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85800" y="430000"/>
            <a:ext cx="1752000" cy="300000"/>
          </a:xfrm>
          <a:prstGeom prst="roundRect">
            <a:avLst>
              <a:gd name="adj" fmla="val 50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ja-JP" altLang="en-US" sz="1050" b="1">
                <a:solidFill>
                  <a:srgbClr val="2563EB"/>
                </a:solidFill>
                <a:latin typeface="游ゴシック"/>
                <a:ea typeface="游ゴシック"/>
              </a:rPr>
              <a:t>STEP 5  毎日記録する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90000"/>
            <a:ext cx="10820400" cy="4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2300" b="1">
                <a:solidFill>
                  <a:srgbClr val="1F3864"/>
                </a:solidFill>
                <a:latin typeface="游ゴシック"/>
                <a:ea typeface="游ゴシック"/>
              </a:rPr>
              <a:t>カレンダーで記録状況を見る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180000"/>
            <a:ext cx="10820400" cy="12700"/>
          </a:xfrm>
          <a:prstGeom prst="rect">
            <a:avLst/>
          </a:prstGeom>
          <a:solidFill>
            <a:srgbClr val="D8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1380000"/>
            <a:ext cx="3500000" cy="47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① 上部メニューの「カレンダー」を開きます。</a:t>
            </a:r>
          </a:p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② 各日の状態（未入力／進捗のみ登録済／報告済）を月単位で確認します。</a:t>
            </a:r>
          </a:p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③ 日付をクリックすると、その日の入力画面または閲覧画面へ移動します。</a:t>
            </a:r>
          </a:p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④ 「日種別変更」でその日の日種別を個別に上書きできます。</a:t>
            </a:r>
          </a:p>
        </p:txBody>
      </p:sp>
      <p:pic>
        <p:nvPicPr>
          <p:cNvPr id="6" name="Picture 5" descr="image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5800" y="1852023"/>
            <a:ext cx="7000400" cy="3805954"/>
          </a:xfrm>
          <a:prstGeom prst="rect">
            <a:avLst/>
          </a:prstGeom>
          <a:ln w="9525">
            <a:solidFill>
              <a:srgbClr val="C9CFD8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685800" y="6280000"/>
            <a:ext cx="50000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900" b="0">
                <a:solidFill>
                  <a:srgbClr val="7A7A7A"/>
                </a:solidFill>
                <a:latin typeface="游ゴシック"/>
                <a:ea typeface="游ゴシック"/>
              </a:rPr>
              <a:t>ミチナリ ユーザ手順書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6200" y="6280000"/>
            <a:ext cx="20000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900" b="0">
                <a:solidFill>
                  <a:srgbClr val="7A7A7A"/>
                </a:solidFill>
                <a:latin typeface="游ゴシック"/>
                <a:ea typeface="游ゴシック"/>
              </a:rPr>
              <a:t>24 / 34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85800" y="430000"/>
            <a:ext cx="1752000" cy="300000"/>
          </a:xfrm>
          <a:prstGeom prst="roundRect">
            <a:avLst>
              <a:gd name="adj" fmla="val 50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ja-JP" altLang="en-US" sz="1050" b="1">
                <a:solidFill>
                  <a:srgbClr val="2563EB"/>
                </a:solidFill>
                <a:latin typeface="游ゴシック"/>
                <a:ea typeface="游ゴシック"/>
              </a:rPr>
              <a:t>STEP 5  毎日記録する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90000"/>
            <a:ext cx="10820400" cy="4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2300" b="1">
                <a:solidFill>
                  <a:srgbClr val="1F3864"/>
                </a:solidFill>
                <a:latin typeface="游ゴシック"/>
                <a:ea typeface="游ゴシック"/>
              </a:rPr>
              <a:t>過去の日次報告を読み返す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180000"/>
            <a:ext cx="10820400" cy="12700"/>
          </a:xfrm>
          <a:prstGeom prst="rect">
            <a:avLst/>
          </a:prstGeom>
          <a:solidFill>
            <a:srgbClr val="D8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1380000"/>
            <a:ext cx="3500000" cy="47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① カレンダーで「報告済」の日付をクリックすると、日次報告閲覧が開きます。</a:t>
            </a:r>
          </a:p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② 実績（投下時間・完了分量・周回・正答率）と日記を確認できます。</a:t>
            </a:r>
          </a:p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③ 確定済みの報告は読み取り専用です。追記できるのはコメントのみです。</a:t>
            </a:r>
          </a:p>
        </p:txBody>
      </p:sp>
      <p:pic>
        <p:nvPicPr>
          <p:cNvPr id="6" name="Picture 5" descr="image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5800" y="1578950"/>
            <a:ext cx="7000400" cy="4352100"/>
          </a:xfrm>
          <a:prstGeom prst="rect">
            <a:avLst/>
          </a:prstGeom>
          <a:ln w="9525">
            <a:solidFill>
              <a:srgbClr val="C9CFD8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685800" y="6280000"/>
            <a:ext cx="50000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900" b="0">
                <a:solidFill>
                  <a:srgbClr val="7A7A7A"/>
                </a:solidFill>
                <a:latin typeface="游ゴシック"/>
                <a:ea typeface="游ゴシック"/>
              </a:rPr>
              <a:t>ミチナリ ユーザ手順書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6200" y="6280000"/>
            <a:ext cx="20000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900" b="0">
                <a:solidFill>
                  <a:srgbClr val="7A7A7A"/>
                </a:solidFill>
                <a:latin typeface="游ゴシック"/>
                <a:ea typeface="游ゴシック"/>
              </a:rPr>
              <a:t>25 / 34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85800" y="430000"/>
            <a:ext cx="1644000" cy="300000"/>
          </a:xfrm>
          <a:prstGeom prst="roundRect">
            <a:avLst>
              <a:gd name="adj" fmla="val 50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ja-JP" altLang="en-US" sz="1050" b="1">
                <a:solidFill>
                  <a:srgbClr val="2563EB"/>
                </a:solidFill>
                <a:latin typeface="游ゴシック"/>
                <a:ea typeface="游ゴシック"/>
              </a:rPr>
              <a:t>STEP 6  ふりかえる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90000"/>
            <a:ext cx="10820400" cy="4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2300" b="1">
                <a:solidFill>
                  <a:srgbClr val="1F3864"/>
                </a:solidFill>
                <a:latin typeface="游ゴシック"/>
                <a:ea typeface="游ゴシック"/>
              </a:rPr>
              <a:t>分析：品質推移 — 得点の伸びを見る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180000"/>
            <a:ext cx="10820400" cy="12700"/>
          </a:xfrm>
          <a:prstGeom prst="rect">
            <a:avLst/>
          </a:prstGeom>
          <a:solidFill>
            <a:srgbClr val="D8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1380000"/>
            <a:ext cx="3500000" cy="47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① 上部メニューの「分析」を開きます。</a:t>
            </a:r>
          </a:p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② 目標タブで対象の目標を選びます。</a:t>
            </a:r>
          </a:p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③ 「品質推移」タブで、周回別の品質指標の推移を確認します。</a:t>
            </a:r>
          </a:p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④ 粒度（日別／週別／月別）を切り替えられます。赤い破線は合格基準線です。</a:t>
            </a:r>
          </a:p>
        </p:txBody>
      </p:sp>
      <p:pic>
        <p:nvPicPr>
          <p:cNvPr id="6" name="Picture 5" descr="image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5800" y="1586348"/>
            <a:ext cx="7000400" cy="4337304"/>
          </a:xfrm>
          <a:prstGeom prst="rect">
            <a:avLst/>
          </a:prstGeom>
          <a:ln w="9525">
            <a:solidFill>
              <a:srgbClr val="C9CFD8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685800" y="6280000"/>
            <a:ext cx="50000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900" b="0">
                <a:solidFill>
                  <a:srgbClr val="7A7A7A"/>
                </a:solidFill>
                <a:latin typeface="游ゴシック"/>
                <a:ea typeface="游ゴシック"/>
              </a:rPr>
              <a:t>ミチナリ ユーザ手順書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6200" y="6280000"/>
            <a:ext cx="20000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900" b="0">
                <a:solidFill>
                  <a:srgbClr val="7A7A7A"/>
                </a:solidFill>
                <a:latin typeface="游ゴシック"/>
                <a:ea typeface="游ゴシック"/>
              </a:rPr>
              <a:t>26 / 34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85800" y="430000"/>
            <a:ext cx="1644000" cy="300000"/>
          </a:xfrm>
          <a:prstGeom prst="roundRect">
            <a:avLst>
              <a:gd name="adj" fmla="val 50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ja-JP" altLang="en-US" sz="1050" b="1">
                <a:solidFill>
                  <a:srgbClr val="2563EB"/>
                </a:solidFill>
                <a:latin typeface="游ゴシック"/>
                <a:ea typeface="游ゴシック"/>
              </a:rPr>
              <a:t>STEP 6  ふりかえる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90000"/>
            <a:ext cx="10820400" cy="4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2300" b="1">
                <a:solidFill>
                  <a:srgbClr val="1F3864"/>
                </a:solidFill>
                <a:latin typeface="游ゴシック"/>
                <a:ea typeface="游ゴシック"/>
              </a:rPr>
              <a:t>分析：進捗 — 実績と計画を比べる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180000"/>
            <a:ext cx="10820400" cy="12700"/>
          </a:xfrm>
          <a:prstGeom prst="rect">
            <a:avLst/>
          </a:prstGeom>
          <a:solidFill>
            <a:srgbClr val="D8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1380000"/>
            <a:ext cx="3500000" cy="47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① 「進捗」タブを開きます。</a:t>
            </a:r>
          </a:p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② 教材ごとに、実績（実線）と計画線（点線）を比較できます。</a:t>
            </a:r>
          </a:p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③ 実績が計画線を上回っていれば前倒し、下回っていれば遅れです。</a:t>
            </a:r>
          </a:p>
        </p:txBody>
      </p:sp>
      <p:pic>
        <p:nvPicPr>
          <p:cNvPr id="6" name="Picture 5" descr="image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5800" y="1663671"/>
            <a:ext cx="7000400" cy="4182658"/>
          </a:xfrm>
          <a:prstGeom prst="rect">
            <a:avLst/>
          </a:prstGeom>
          <a:ln w="9525">
            <a:solidFill>
              <a:srgbClr val="C9CFD8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685800" y="6280000"/>
            <a:ext cx="50000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900" b="0">
                <a:solidFill>
                  <a:srgbClr val="7A7A7A"/>
                </a:solidFill>
                <a:latin typeface="游ゴシック"/>
                <a:ea typeface="游ゴシック"/>
              </a:rPr>
              <a:t>ミチナリ ユーザ手順書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6200" y="6280000"/>
            <a:ext cx="20000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900" b="0">
                <a:solidFill>
                  <a:srgbClr val="7A7A7A"/>
                </a:solidFill>
                <a:latin typeface="游ゴシック"/>
                <a:ea typeface="游ゴシック"/>
              </a:rPr>
              <a:t>27 / 34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85800" y="430000"/>
            <a:ext cx="1644000" cy="300000"/>
          </a:xfrm>
          <a:prstGeom prst="roundRect">
            <a:avLst>
              <a:gd name="adj" fmla="val 50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ja-JP" altLang="en-US" sz="1050" b="1">
                <a:solidFill>
                  <a:srgbClr val="2563EB"/>
                </a:solidFill>
                <a:latin typeface="游ゴシック"/>
                <a:ea typeface="游ゴシック"/>
              </a:rPr>
              <a:t>STEP 6  ふりかえる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90000"/>
            <a:ext cx="10820400" cy="4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2300" b="1">
                <a:solidFill>
                  <a:srgbClr val="1F3864"/>
                </a:solidFill>
                <a:latin typeface="游ゴシック"/>
                <a:ea typeface="游ゴシック"/>
              </a:rPr>
              <a:t>分析：完了予測 — 締切に間に合うか確認する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180000"/>
            <a:ext cx="10820400" cy="12700"/>
          </a:xfrm>
          <a:prstGeom prst="rect">
            <a:avLst/>
          </a:prstGeom>
          <a:solidFill>
            <a:srgbClr val="D8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1380000"/>
            <a:ext cx="3500000" cy="47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① 「完了予測」タブを開きます。</a:t>
            </a:r>
          </a:p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② 教材ごとに、締切・完了予測日・乖離が表示されます。</a:t>
            </a:r>
          </a:p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③ 実績が少ない教材は「実績不足のため算出不可」と表示されます。</a:t>
            </a:r>
          </a:p>
        </p:txBody>
      </p:sp>
      <p:pic>
        <p:nvPicPr>
          <p:cNvPr id="6" name="Picture 5" descr="image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5800" y="2304590"/>
            <a:ext cx="7000400" cy="2900819"/>
          </a:xfrm>
          <a:prstGeom prst="rect">
            <a:avLst/>
          </a:prstGeom>
          <a:ln w="9525">
            <a:solidFill>
              <a:srgbClr val="C9CFD8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685800" y="6280000"/>
            <a:ext cx="50000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900" b="0">
                <a:solidFill>
                  <a:srgbClr val="7A7A7A"/>
                </a:solidFill>
                <a:latin typeface="游ゴシック"/>
                <a:ea typeface="游ゴシック"/>
              </a:rPr>
              <a:t>ミチナリ ユーザ手順書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6200" y="6280000"/>
            <a:ext cx="20000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900" b="0">
                <a:solidFill>
                  <a:srgbClr val="7A7A7A"/>
                </a:solidFill>
                <a:latin typeface="游ゴシック"/>
                <a:ea typeface="游ゴシック"/>
              </a:rPr>
              <a:t>28 / 34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85800" y="430000"/>
            <a:ext cx="1644000" cy="300000"/>
          </a:xfrm>
          <a:prstGeom prst="roundRect">
            <a:avLst>
              <a:gd name="adj" fmla="val 50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ja-JP" altLang="en-US" sz="1050" b="1">
                <a:solidFill>
                  <a:srgbClr val="2563EB"/>
                </a:solidFill>
                <a:latin typeface="游ゴシック"/>
                <a:ea typeface="游ゴシック"/>
              </a:rPr>
              <a:t>STEP 6  ふりかえる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90000"/>
            <a:ext cx="10820400" cy="4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2300" b="1">
                <a:solidFill>
                  <a:srgbClr val="1F3864"/>
                </a:solidFill>
                <a:latin typeface="游ゴシック"/>
                <a:ea typeface="游ゴシック"/>
              </a:rPr>
              <a:t>分析：実効速度 — 1時間あたりの処理量を見る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180000"/>
            <a:ext cx="10820400" cy="12700"/>
          </a:xfrm>
          <a:prstGeom prst="rect">
            <a:avLst/>
          </a:prstGeom>
          <a:solidFill>
            <a:srgbClr val="D8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1380000"/>
            <a:ext cx="3500000" cy="47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① 「実効速度」タブを開きます。</a:t>
            </a:r>
          </a:p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② 周回別に、単位時間あたりどれだけ進められたかの推移を確認します。</a:t>
            </a:r>
          </a:p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③ 速度が落ちている場合は、教材の難度や学習時間の質を見直す目安になります。</a:t>
            </a:r>
          </a:p>
        </p:txBody>
      </p:sp>
      <p:pic>
        <p:nvPicPr>
          <p:cNvPr id="6" name="Picture 5" descr="image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5800" y="1663642"/>
            <a:ext cx="7000400" cy="4182715"/>
          </a:xfrm>
          <a:prstGeom prst="rect">
            <a:avLst/>
          </a:prstGeom>
          <a:ln w="9525">
            <a:solidFill>
              <a:srgbClr val="C9CFD8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685800" y="6280000"/>
            <a:ext cx="50000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900" b="0">
                <a:solidFill>
                  <a:srgbClr val="7A7A7A"/>
                </a:solidFill>
                <a:latin typeface="游ゴシック"/>
                <a:ea typeface="游ゴシック"/>
              </a:rPr>
              <a:t>ミチナリ ユーザ手順書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6200" y="6280000"/>
            <a:ext cx="20000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900" b="0">
                <a:solidFill>
                  <a:srgbClr val="7A7A7A"/>
                </a:solidFill>
                <a:latin typeface="游ゴシック"/>
                <a:ea typeface="游ゴシック"/>
              </a:rPr>
              <a:t>29 / 34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85800" y="430000"/>
            <a:ext cx="1644000" cy="300000"/>
          </a:xfrm>
          <a:prstGeom prst="roundRect">
            <a:avLst>
              <a:gd name="adj" fmla="val 50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ja-JP" altLang="en-US" sz="1050" b="1">
                <a:solidFill>
                  <a:srgbClr val="2563EB"/>
                </a:solidFill>
                <a:latin typeface="游ゴシック"/>
                <a:ea typeface="游ゴシック"/>
              </a:rPr>
              <a:t>STEP 6  ふりかえる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90000"/>
            <a:ext cx="10820400" cy="4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2300" b="1">
                <a:solidFill>
                  <a:srgbClr val="1F3864"/>
                </a:solidFill>
                <a:latin typeface="游ゴシック"/>
                <a:ea typeface="游ゴシック"/>
              </a:rPr>
              <a:t>分析：ガントチャート — 教材ごとの計画期間を見る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180000"/>
            <a:ext cx="10820400" cy="12700"/>
          </a:xfrm>
          <a:prstGeom prst="rect">
            <a:avLst/>
          </a:prstGeom>
          <a:solidFill>
            <a:srgbClr val="D8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1380000"/>
            <a:ext cx="3500000" cy="47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① 「ガントチャート」タブを開きます。</a:t>
            </a:r>
          </a:p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② 教材ごとの計画期間が横棒で表示されます。</a:t>
            </a:r>
          </a:p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③ 濃い色の部分が完了済み、薄い色の部分がこれから取り組む範囲です。</a:t>
            </a:r>
          </a:p>
        </p:txBody>
      </p:sp>
      <p:pic>
        <p:nvPicPr>
          <p:cNvPr id="6" name="Picture 5" descr="image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5800" y="2393556"/>
            <a:ext cx="7000400" cy="2722888"/>
          </a:xfrm>
          <a:prstGeom prst="rect">
            <a:avLst/>
          </a:prstGeom>
          <a:ln w="9525">
            <a:solidFill>
              <a:srgbClr val="C9CFD8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685800" y="6280000"/>
            <a:ext cx="50000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900" b="0">
                <a:solidFill>
                  <a:srgbClr val="7A7A7A"/>
                </a:solidFill>
                <a:latin typeface="游ゴシック"/>
                <a:ea typeface="游ゴシック"/>
              </a:rPr>
              <a:t>ミチナリ ユーザ手順書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6200" y="6280000"/>
            <a:ext cx="20000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900" b="0">
                <a:solidFill>
                  <a:srgbClr val="7A7A7A"/>
                </a:solidFill>
                <a:latin typeface="游ゴシック"/>
                <a:ea typeface="游ゴシック"/>
              </a:rPr>
              <a:t>30 / 34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85800" y="430000"/>
            <a:ext cx="1644000" cy="300000"/>
          </a:xfrm>
          <a:prstGeom prst="roundRect">
            <a:avLst>
              <a:gd name="adj" fmla="val 50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ja-JP" altLang="en-US" sz="1050" b="1">
                <a:solidFill>
                  <a:srgbClr val="2563EB"/>
                </a:solidFill>
                <a:latin typeface="游ゴシック"/>
                <a:ea typeface="游ゴシック"/>
              </a:rPr>
              <a:t>STEP 6  ふりかえる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90000"/>
            <a:ext cx="10820400" cy="4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2300" b="1">
                <a:solidFill>
                  <a:srgbClr val="1F3864"/>
                </a:solidFill>
                <a:latin typeface="游ゴシック"/>
                <a:ea typeface="游ゴシック"/>
              </a:rPr>
              <a:t>分析：リプラン履歴 — ノルマの変更履歴を見る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180000"/>
            <a:ext cx="10820400" cy="12700"/>
          </a:xfrm>
          <a:prstGeom prst="rect">
            <a:avLst/>
          </a:prstGeom>
          <a:solidFill>
            <a:srgbClr val="D8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1380000"/>
            <a:ext cx="3500000" cy="47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① 「リプラン履歴」タブを開きます。</a:t>
            </a:r>
          </a:p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② 日時・教材・契機・変更前ノルマ・変更後ノルマが一覧表示されます。</a:t>
            </a:r>
          </a:p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③ いつ、なぜ計画が組み替えられたのかを追跡できます。</a:t>
            </a:r>
          </a:p>
        </p:txBody>
      </p:sp>
      <p:pic>
        <p:nvPicPr>
          <p:cNvPr id="6" name="Picture 5" descr="image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5800" y="2036090"/>
            <a:ext cx="7000400" cy="3437820"/>
          </a:xfrm>
          <a:prstGeom prst="rect">
            <a:avLst/>
          </a:prstGeom>
          <a:ln w="9525">
            <a:solidFill>
              <a:srgbClr val="C9CFD8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685800" y="6280000"/>
            <a:ext cx="50000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900" b="0">
                <a:solidFill>
                  <a:srgbClr val="7A7A7A"/>
                </a:solidFill>
                <a:latin typeface="游ゴシック"/>
                <a:ea typeface="游ゴシック"/>
              </a:rPr>
              <a:t>ミチナリ ユーザ手順書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6200" y="6280000"/>
            <a:ext cx="20000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900" b="0">
                <a:solidFill>
                  <a:srgbClr val="7A7A7A"/>
                </a:solidFill>
                <a:latin typeface="游ゴシック"/>
                <a:ea typeface="游ゴシック"/>
              </a:rPr>
              <a:t>31 / 34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85800" y="430000"/>
            <a:ext cx="1644000" cy="300000"/>
          </a:xfrm>
          <a:prstGeom prst="roundRect">
            <a:avLst>
              <a:gd name="adj" fmla="val 50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ja-JP" altLang="en-US" sz="1050" b="1">
                <a:solidFill>
                  <a:srgbClr val="2563EB"/>
                </a:solidFill>
                <a:latin typeface="游ゴシック"/>
                <a:ea typeface="游ゴシック"/>
              </a:rPr>
              <a:t>STEP 6  ふりかえる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90000"/>
            <a:ext cx="10820400" cy="4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2300" b="1">
                <a:solidFill>
                  <a:srgbClr val="1F3864"/>
                </a:solidFill>
                <a:latin typeface="游ゴシック"/>
                <a:ea typeface="游ゴシック"/>
              </a:rPr>
              <a:t>分析：成長記述 — AI のフィードバックを読み返す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180000"/>
            <a:ext cx="10820400" cy="12700"/>
          </a:xfrm>
          <a:prstGeom prst="rect">
            <a:avLst/>
          </a:prstGeom>
          <a:solidFill>
            <a:srgbClr val="D8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1380000"/>
            <a:ext cx="3500000" cy="47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① 「成長記述」タブを開きます。</a:t>
            </a:r>
          </a:p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② 日次報告に対する AI のフィードバックが、日付順に表示されます。</a:t>
            </a:r>
          </a:p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③ 数値では見えない理解の深まりや、次に取るべき方針の確認に使います。</a:t>
            </a:r>
          </a:p>
        </p:txBody>
      </p:sp>
      <p:pic>
        <p:nvPicPr>
          <p:cNvPr id="6" name="Picture 5" descr="image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5800" y="1526743"/>
            <a:ext cx="7000400" cy="4456513"/>
          </a:xfrm>
          <a:prstGeom prst="rect">
            <a:avLst/>
          </a:prstGeom>
          <a:ln w="9525">
            <a:solidFill>
              <a:srgbClr val="C9CFD8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685800" y="6280000"/>
            <a:ext cx="50000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900" b="0">
                <a:solidFill>
                  <a:srgbClr val="7A7A7A"/>
                </a:solidFill>
                <a:latin typeface="游ゴシック"/>
                <a:ea typeface="游ゴシック"/>
              </a:rPr>
              <a:t>ミチナリ ユーザ手順書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6200" y="6280000"/>
            <a:ext cx="20000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900" b="0">
                <a:solidFill>
                  <a:srgbClr val="7A7A7A"/>
                </a:solidFill>
                <a:latin typeface="游ゴシック"/>
                <a:ea typeface="游ゴシック"/>
              </a:rPr>
              <a:t>32 / 34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726200" y="1400000"/>
            <a:ext cx="1400000" cy="380000"/>
          </a:xfrm>
          <a:prstGeom prst="roundRect">
            <a:avLst>
              <a:gd name="adj" fmla="val 40000"/>
            </a:avLst>
          </a:prstGeom>
          <a:solidFill>
            <a:srgbClr val="2A4A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algn="ctr"/>
            <a:r>
              <a:rPr lang="ja-JP" altLang="en-US" sz="1000" b="0">
                <a:solidFill>
                  <a:srgbClr val="9CB3D9"/>
                </a:solidFill>
                <a:latin typeface="游ゴシック"/>
                <a:ea typeface="游ゴシック"/>
                <a:cs typeface="游ゴシック"/>
              </a:rPr>
              <a:t>1 セットアップ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186200" y="1400000"/>
            <a:ext cx="1400000" cy="380000"/>
          </a:xfrm>
          <a:prstGeom prst="roundRect">
            <a:avLst>
              <a:gd name="adj" fmla="val 40000"/>
            </a:avLst>
          </a:prstGeom>
          <a:solidFill>
            <a:srgbClr val="2A4A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algn="ctr"/>
            <a:r>
              <a:rPr lang="ja-JP" altLang="en-US" sz="1000" b="0">
                <a:solidFill>
                  <a:srgbClr val="9CB3D9"/>
                </a:solidFill>
                <a:latin typeface="游ゴシック"/>
                <a:ea typeface="游ゴシック"/>
                <a:cs typeface="游ゴシック"/>
              </a:rPr>
              <a:t>2 目標をつくる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46200" y="1400000"/>
            <a:ext cx="1400000" cy="380000"/>
          </a:xfrm>
          <a:prstGeom prst="roundRect">
            <a:avLst>
              <a:gd name="adj" fmla="val 40000"/>
            </a:avLst>
          </a:prstGeom>
          <a:solidFill>
            <a:srgbClr val="2A4A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algn="ctr"/>
            <a:r>
              <a:rPr lang="ja-JP" altLang="en-US" sz="1000" b="0">
                <a:solidFill>
                  <a:srgbClr val="9CB3D9"/>
                </a:solidFill>
                <a:latin typeface="游ゴシック"/>
                <a:ea typeface="游ゴシック"/>
                <a:cs typeface="游ゴシック"/>
              </a:rPr>
              <a:t>3 毎日つかう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106200" y="1400000"/>
            <a:ext cx="1400000" cy="380000"/>
          </a:xfrm>
          <a:prstGeom prst="roundRect">
            <a:avLst>
              <a:gd name="adj" fmla="val 40000"/>
            </a:avLst>
          </a:prstGeom>
          <a:solidFill>
            <a:srgbClr val="7FB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algn="ctr"/>
            <a:r>
              <a:rPr lang="ja-JP" altLang="en-US" sz="1000" b="1">
                <a:solidFill>
                  <a:srgbClr val="1F3864"/>
                </a:solidFill>
                <a:latin typeface="游ゴシック"/>
                <a:ea typeface="游ゴシック"/>
                <a:cs typeface="游ゴシック"/>
              </a:rPr>
              <a:t>4 整理する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00000"/>
            <a:ext cx="4000000" cy="38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1400" b="1">
                <a:solidFill>
                  <a:srgbClr val="7FB0FF"/>
                </a:solidFill>
                <a:latin typeface="游ゴシック"/>
                <a:ea typeface="游ゴシック"/>
                <a:cs typeface="游ゴシック"/>
              </a:rPr>
              <a:t>PART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880000"/>
            <a:ext cx="9000000" cy="9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3600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目標を整理する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2960000"/>
            <a:ext cx="1400000" cy="45720"/>
          </a:xfrm>
          <a:prstGeom prst="rect">
            <a:avLst/>
          </a:prstGeom>
          <a:solidFill>
            <a:srgbClr val="7FB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5800" y="3200000"/>
            <a:ext cx="9000000" cy="42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1600" b="0">
                <a:solidFill>
                  <a:srgbClr val="D8DDE5"/>
                </a:solidFill>
                <a:latin typeface="游ゴシック"/>
                <a:ea typeface="游ゴシック"/>
                <a:cs typeface="游ゴシック"/>
              </a:rPr>
              <a:t>終わった目標をアーカイブ・削除して、一覧を整えます。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800000"/>
            <a:ext cx="9000000" cy="3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1100" b="1">
                <a:solidFill>
                  <a:srgbClr val="9CB3D9"/>
                </a:solidFill>
                <a:latin typeface="游ゴシック"/>
                <a:ea typeface="游ゴシック"/>
                <a:cs typeface="游ゴシック"/>
              </a:rPr>
              <a:t>このパートに含まれる手順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4160000"/>
            <a:ext cx="9000000" cy="8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lang="ja-JP" altLang="en-US" sz="1400" b="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STEP 7　目標を整理する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5150000"/>
            <a:ext cx="8200000" cy="720000"/>
          </a:xfrm>
          <a:prstGeom prst="roundRect">
            <a:avLst>
              <a:gd name="adj" fmla="val 8000"/>
            </a:avLst>
          </a:prstGeom>
          <a:solidFill>
            <a:srgbClr val="2A4A7F"/>
          </a:solidFill>
          <a:ln w="9525">
            <a:solidFill>
              <a:srgbClr val="7FB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lang="ja-JP" altLang="en-US" sz="1300" b="1">
                <a:solidFill>
                  <a:srgbClr val="7FB0FF"/>
                </a:solidFill>
                <a:latin typeface="游ゴシック"/>
                <a:ea typeface="游ゴシック"/>
                <a:cs typeface="游ゴシック"/>
              </a:rPr>
              <a:t>ゴール　</a:t>
            </a:r>
            <a:r>
              <a:rPr lang="ja-JP" altLang="en-US" sz="1300" b="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このパートが終わると、目標一覧が進行中のものだけになります。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6280000"/>
            <a:ext cx="5000000" cy="26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900" b="0">
                <a:solidFill>
                  <a:srgbClr val="9CB3D9"/>
                </a:solidFill>
                <a:latin typeface="游ゴシック"/>
                <a:ea typeface="游ゴシック"/>
                <a:cs typeface="游ゴシック"/>
              </a:rPr>
              <a:t>ミチナリ ユーザ手順書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6200" y="6280000"/>
            <a:ext cx="2000000" cy="26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900" b="0">
                <a:solidFill>
                  <a:srgbClr val="9CB3D9"/>
                </a:solidFill>
                <a:latin typeface="游ゴシック"/>
                <a:ea typeface="游ゴシック"/>
                <a:cs typeface="游ゴシック"/>
              </a:rPr>
              <a:t>33 / 34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85800" y="430000"/>
            <a:ext cx="1860000" cy="300000"/>
          </a:xfrm>
          <a:prstGeom prst="roundRect">
            <a:avLst>
              <a:gd name="adj" fmla="val 50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ja-JP" altLang="en-US" sz="1050" b="1">
                <a:solidFill>
                  <a:srgbClr val="2563EB"/>
                </a:solidFill>
                <a:latin typeface="游ゴシック"/>
                <a:ea typeface="游ゴシック"/>
              </a:rPr>
              <a:t>STEP 7  目標を整理する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90000"/>
            <a:ext cx="10820400" cy="4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2300" b="1">
                <a:solidFill>
                  <a:srgbClr val="1F3864"/>
                </a:solidFill>
                <a:latin typeface="游ゴシック"/>
                <a:ea typeface="游ゴシック"/>
              </a:rPr>
              <a:t>終わった目標をアーカイブ・削除する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180000"/>
            <a:ext cx="10820400" cy="12700"/>
          </a:xfrm>
          <a:prstGeom prst="rect">
            <a:avLst/>
          </a:prstGeom>
          <a:solidFill>
            <a:srgbClr val="D8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1380000"/>
            <a:ext cx="3500000" cy="47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① 「目標一覧」で「アーカイブ済みを表示」にチェックを入れます。</a:t>
            </a:r>
          </a:p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② アーカイブ済みの目標が下部に一覧表示されます。</a:t>
            </a:r>
          </a:p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③ 「復元」で目標一覧に戻せます。</a:t>
            </a:r>
          </a:p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④ 「完全に削除」で、科目・教材ごと物理的に削除します。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5303230"/>
            <a:ext cx="3500000" cy="826770"/>
          </a:xfrm>
          <a:prstGeom prst="roundRect">
            <a:avLst>
              <a:gd name="adj" fmla="val 8000"/>
            </a:avLst>
          </a:prstGeom>
          <a:solidFill>
            <a:srgbClr val="FFF8E8"/>
          </a:solidFill>
          <a:ln w="9525">
            <a:solidFill>
              <a:srgbClr val="E8C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91440" bIns="91440" rtlCol="0" anchor="t"/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300"/>
              </a:spcAft>
            </a:pPr>
            <a:r>
              <a:rPr lang="ja-JP" altLang="en-US" sz="1000" b="1">
                <a:solidFill>
                  <a:srgbClr val="8A5A00"/>
                </a:solidFill>
                <a:latin typeface="游ゴシック"/>
                <a:ea typeface="游ゴシック"/>
              </a:rPr>
              <a:t>注意</a:t>
            </a:r>
          </a:p>
          <a:p>
            <a:pPr algn="l" eaLnBrk="1" latinLnBrk="0" hangingPunct="1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1000" b="0">
                <a:solidFill>
                  <a:srgbClr val="8A5A00"/>
                </a:solidFill>
                <a:latin typeface="游ゴシック"/>
                <a:ea typeface="游ゴシック"/>
              </a:rPr>
              <a:t>実績が残る教材がある状態で、学習実績を削除するチェックを外すと削除は失敗します。</a:t>
            </a:r>
          </a:p>
        </p:txBody>
      </p:sp>
      <p:pic>
        <p:nvPicPr>
          <p:cNvPr id="7" name="Picture 6" descr="image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5800" y="1562159"/>
            <a:ext cx="7000400" cy="4385681"/>
          </a:xfrm>
          <a:prstGeom prst="rect">
            <a:avLst/>
          </a:prstGeom>
          <a:ln w="9525">
            <a:solidFill>
              <a:srgbClr val="C9CFD8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685800" y="6280000"/>
            <a:ext cx="50000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900" b="0">
                <a:solidFill>
                  <a:srgbClr val="7A7A7A"/>
                </a:solidFill>
                <a:latin typeface="游ゴシック"/>
                <a:ea typeface="游ゴシック"/>
              </a:rPr>
              <a:t>ミチナリ ユーザ手順書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6200" y="6280000"/>
            <a:ext cx="20000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900" b="0">
                <a:solidFill>
                  <a:srgbClr val="7A7A7A"/>
                </a:solidFill>
                <a:latin typeface="游ゴシック"/>
                <a:ea typeface="游ゴシック"/>
              </a:rPr>
              <a:t>34 / 34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2740</Words>
  <Application>Microsoft Office PowerPoint</Application>
  <PresentationFormat>ワイド画面</PresentationFormat>
  <Paragraphs>320</Paragraphs>
  <Slides>34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34</vt:i4>
      </vt:variant>
    </vt:vector>
  </HeadingPairs>
  <TitlesOfParts>
    <vt:vector size="38" baseType="lpstr">
      <vt:lpstr>游ゴシック</vt:lpstr>
      <vt:lpstr>Arial</vt:lpstr>
      <vt:lpstr>Calibri</vt:lpstr>
      <vt:lpstr>Office Theme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須山哲平</dc:creator>
  <cp:keywords/>
  <dc:description>generated using python-pptx</dc:description>
  <cp:lastModifiedBy>哲平 須山</cp:lastModifiedBy>
  <cp:revision>2</cp:revision>
  <dcterms:created xsi:type="dcterms:W3CDTF">2013-01-27T09:14:16Z</dcterms:created>
  <dcterms:modified xsi:type="dcterms:W3CDTF">2026-09-07T08:50:36Z</dcterms:modified>
  <cp:category/>
</cp:coreProperties>
</file>