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9" r:id="rId29"/>
    <p:sldId id="258" r:id="rId4"/>
    <p:sldId id="259" r:id="rId5"/>
    <p:sldId id="260" r:id="rId6"/>
    <p:sldId id="280" r:id="rId30"/>
    <p:sldId id="261" r:id="rId7"/>
    <p:sldId id="262" r:id="rId8"/>
    <p:sldId id="263" r:id="rId9"/>
    <p:sldId id="264" r:id="rId10"/>
    <p:sldId id="265" r:id="rId11"/>
    <p:sldId id="266" r:id="rId12"/>
    <p:sldId id="267" r:id="rId13"/>
    <p:sldId id="281" r:id="rId31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2" r:id="rId32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521415D9-36F7-43E2-AB2F-B90AF26B5E84}">
      <ns1:sectionLst xmlns:ns1="http://schemas.microsoft.com/office/powerpoint/2010/main">
        <ns1:section name="表紙・全体の流れ" id="{00000001-1111-4A2B-9C3D-000000000001}">
          <ns1:sldIdLst>
            <ns1:sldId id="256"/>
            <ns1:sldId id="257"/>
          </ns1:sldIdLst>
        </ns1:section>
        <ns1:section name="PART 1 セットアップ" id="{00000002-1111-4A2B-9C3D-000000000002}">
          <ns1:sldIdLst>
            <ns1:sldId id="279"/>
            <ns1:sldId id="258"/>
            <ns1:sldId id="259"/>
            <ns1:sldId id="260"/>
          </ns1:sldIdLst>
        </ns1:section>
        <ns1:section name="PART 2 目標をつくる" id="{00000003-1111-4A2B-9C3D-000000000003}">
          <ns1:sldIdLst>
            <ns1:sldId id="280"/>
            <ns1:sldId id="261"/>
            <ns1:sldId id="262"/>
            <ns1:sldId id="263"/>
            <ns1:sldId id="264"/>
            <ns1:sldId id="265"/>
            <ns1:sldId id="266"/>
            <ns1:sldId id="267"/>
          </ns1:sldIdLst>
        </ns1:section>
        <ns1:section name="PART 3 毎日つかう" id="{00000004-1111-4A2B-9C3D-000000000004}">
          <ns1:sldIdLst>
            <ns1:sldId id="281"/>
            <ns1:sldId id="268"/>
            <ns1:sldId id="269"/>
            <ns1:sldId id="270"/>
            <ns1:sldId id="271"/>
            <ns1:sldId id="272"/>
            <ns1:sldId id="273"/>
            <ns1:sldId id="274"/>
            <ns1:sldId id="275"/>
            <ns1:sldId id="276"/>
            <ns1:sldId id="277"/>
          </ns1:sldIdLst>
        </ns1:section>
        <ns1:section name="PART 4 目標を整理する" id="{00000005-1111-4A2B-9C3D-000000000005}">
          <ns1:sldIdLst>
            <ns1:sldId id="282"/>
            <ns1:sldId id="278"/>
          </ns1:sldIdLst>
        </ns1:section>
      </ns1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644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5800" y="2350000"/>
            <a:ext cx="9000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4000" b="1">
                <a:solidFill>
                  <a:srgbClr val="1F3864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4" name="Rectangle 3"/>
          <p:cNvSpPr/>
          <p:nvPr/>
        </p:nvSpPr>
        <p:spPr>
          <a:xfrm>
            <a:off x="885800" y="3400000"/>
            <a:ext cx="140000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5800" y="3650000"/>
            <a:ext cx="9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0">
                <a:solidFill>
                  <a:srgbClr val="333333"/>
                </a:solidFill>
                <a:latin typeface="游ゴシック"/>
                <a:ea typeface="游ゴシック"/>
              </a:rPr>
              <a:t>資格試験の学習計画を立て、日々の実績を記録し、計画を見直すためのアプリ</a:t>
            </a:r>
          </a:p>
          <a:p>
            <a:pPr algn="l" eaLnBrk="1" latinLnBrk="0" hangingPunct="1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7A7A7A"/>
                </a:solidFill>
                <a:latin typeface="游ゴシック"/>
                <a:ea typeface="游ゴシック"/>
              </a:rPr>
              <a:t>Windows デスクトップ版　画面キャプチャで見る操作手順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5800" y="5750000"/>
            <a:ext cx="9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100" b="0">
                <a:solidFill>
                  <a:srgbClr val="7A7A7A"/>
                </a:solidFill>
                <a:latin typeface="游ゴシック"/>
                <a:ea typeface="游ゴシック"/>
              </a:rPr>
              <a:t>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2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全体の流れ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800" y="14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起動する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5800" y="14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Michinari.exe を起動する（初回は SmartScreen の警告に対応）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5800" y="20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初期設定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5800" y="21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設定 → AI接続 で Host と Personal Access Token を登録する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5800" y="270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目標をつくる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800" y="272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目標一覧 → 新規目標作成 で目標を登録する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0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5800" y="332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中身を整える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5800" y="334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試験科目・教材・リソース配分・負荷プロファイルを設定する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5800" y="394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毎日記録する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800" y="396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ダッシュボードから日次報告を入力し、カレンダーで状況を確認する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4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5800" y="456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ふりかえる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5800" y="458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分析画面の 7 タブで進捗・品質・予測を確認する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60000"/>
            <a:ext cx="900000" cy="380000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100" b="1">
                <a:solidFill>
                  <a:srgbClr val="2563EB"/>
                </a:solidFill>
                <a:latin typeface="游ゴシック"/>
                <a:ea typeface="游ゴシック"/>
              </a:rPr>
              <a:t>STEP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5800" y="5180000"/>
            <a:ext cx="24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400" b="1">
                <a:solidFill>
                  <a:srgbClr val="1F3864"/>
                </a:solidFill>
                <a:latin typeface="游ゴシック"/>
                <a:ea typeface="游ゴシック"/>
              </a:rPr>
              <a:t>目標を整理する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800" y="5200000"/>
            <a:ext cx="70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アプリを起動する（Windows の警告が出た場合）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Michinari.exe をダブルクリックします。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初回起動時は Windows の SmartScreen 警告が表示されることがあります。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画面の「詳細情報」をクリックします。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この画面のままでは「実行」ボタンが表示されません。「実行しない」を押すと起動しないため、必ず「詳細情報」を押してください。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960" y="1380000"/>
            <a:ext cx="507008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4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1  起動する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「実行」を押してアプリを開く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「詳細情報」を押すと、アプリ名（Michinari.exe）と発行元が表示されます。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「実行」をクリックします。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アプリが起動し、ダッシュボード画面が表示されます。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2 回目以降の起動ではこの警告が表示されないことがあります。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55" y="1380000"/>
            <a:ext cx="5072690" cy="47500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5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53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2  初期設定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AI 接続を設定する（設定 → AI接続）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上部メニューの「設定」を開きます。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「接続先URL（テナントホスト）」を、ご所属に応じて次のとおり入力します。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・セラク内勤者：seraku.newton-x.net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・セラク常駐者：seraku-ex.newton-x.net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・セラクビジネスソリューションズ：bs-seraku.newton-x.net</a:t>
            </a:r>
          </a:p>
          <a:p>
            <a:pPr algn="l" eaLnBrk="1" latinLnBrk="0" hangingPunct="1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lang="ja-JP" altLang="en-US" sz="1100" b="0">
                <a:solidFill>
                  <a:srgbClr val="333333"/>
                </a:solidFill>
                <a:latin typeface="游ゴシック"/>
                <a:ea typeface="游ゴシック"/>
              </a:rPr>
              <a:t>・AND Think：andthink.newton-x.net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「Personal Access Token」を入力し、「再認証する」を押します。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用途ごとのアシスタントは既定値のまま利用できます。変更したいときだけ選び直します。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⑤ 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一覧にない場合は、NewtonXにログインするURL https://xxx.newton-x.net の xxx 部分です。誤ると「認証済み」表示のままエラーになります。</a:t>
            </a:r>
          </a:p>
        </p:txBody>
      </p:sp>
      <p:pic>
        <p:nvPicPr>
          <p:cNvPr id="7" name="Picture 6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33134"/>
            <a:ext cx="7000400" cy="444373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6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目標一覧を開く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上部メニューの「目標一覧」を開きます。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登録済みの目標が、種別（資格試験／読書／仕事）と状態とあわせて一覧表示されます。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目標名をクリックすると、詳細・編集画面へ移動します。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資格試験の目標は「結果登録」から受験結果の登録へ進めます。</a:t>
            </a:r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45905"/>
            <a:ext cx="7000400" cy="421818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8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3  目標をつくる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新規目標を作成する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「新規目標作成」をクリックします。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「目標種別」で 資格試験／読書／仕事 のいずれかを選びます。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試験名と開始日を入力します。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「保存」を押すと目標が作成されます。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選んだ種別によって、このあとの詳細画面のタブ構成が変わります。</a:t>
            </a:r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415186"/>
            <a:ext cx="3376640" cy="2679627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440" y="2397116"/>
            <a:ext cx="3443759" cy="271576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9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基本情報タブ — 試験名・開始日を登録する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目標一覧から目標を選び、詳細画面を開きます。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「基本情報」タブで 試験名・開始日・備考 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右上の「一時停止する」「クローズする」で目標の状態を変更できます。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31780"/>
            <a:ext cx="3500000" cy="99822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資格試験の目標は、基本情報・試験科目・教材・リソース配分・負荷プロファイルの 5 タブで構成されます。</a:t>
            </a:r>
          </a:p>
        </p:txBody>
      </p:sp>
      <p:pic>
        <p:nvPicPr>
          <p:cNvPr id="7" name="Picture 6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76620"/>
            <a:ext cx="7000400" cy="375675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10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試験科目タブ — 受験する科目を登録する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「試験科目」タブを開き、「試験科目を追加」をクリックします。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科目名と受験日タイプ（期間／確定日）を選びます。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期間開始日・期間終了日、合格点の入力方式、合格基準点を入力して「保存」を押します。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受験日が決まったら「受験日を確定する」を押します。</a:t>
            </a:r>
          </a:p>
        </p:txBody>
      </p:sp>
      <p:pic>
        <p:nvPicPr>
          <p:cNvPr id="6" name="Picture 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17" y="1380000"/>
            <a:ext cx="4438365" cy="269850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7" name="Picture 6" descr="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542" y="4258503"/>
            <a:ext cx="3144915" cy="1871496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11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教材タブ — 使う教材と分量を登録する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「教材」タブを開き、「教材を追加」をクリックします。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教材名・分量の単位・総量（1周分）・予定周回数・対策する科目を入力します。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開始日、必要連続時間、必要環境、品質指標の方式を設定して「保存」を押します。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登録後は総作業量・現在周回・周回進捗・全体進捗が一覧に表示されます。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日々のノルマは、ここで登録した分量と期限から自動で算出されます。</a:t>
            </a:r>
          </a:p>
        </p:txBody>
      </p:sp>
      <p:pic>
        <p:nvPicPr>
          <p:cNvPr id="7" name="Picture 6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547" y="1380000"/>
            <a:ext cx="4470905" cy="274841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460" y="4308411"/>
            <a:ext cx="3203080" cy="18215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12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リソース配分タブ — 学習時間の配分を決める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「リソース配分」タブを開きます。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「配分比率（%）」に、この目標へ充てる割合を入力します。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「保存」を押します。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学習に使える時間枠そのものは「学習環境の設定」で登録します。</a:t>
            </a:r>
          </a:p>
        </p:txBody>
      </p:sp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276269"/>
            <a:ext cx="7000400" cy="2957462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13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2076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4  目標の中身を整える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負荷プロファイルタブ — 期間ごとに負荷を調整する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「負荷プロファイル」タブを開き、「負荷プロファイルを追加」をクリックします。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適用開始日・適用終了日を入力します。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負荷係数（既定 1.0）とメモを入力して「保存」を押します。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使いどころ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出張・繁忙期など、一時的に学習量を増減させたい期間に設定します。</a:t>
            </a:r>
          </a:p>
        </p:txBody>
      </p:sp>
      <p:pic>
        <p:nvPicPr>
          <p:cNvPr id="7" name="Picture 6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912622"/>
            <a:ext cx="7000400" cy="203722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pic>
        <p:nvPicPr>
          <p:cNvPr id="8" name="Picture 7" descr="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40" y="4129847"/>
            <a:ext cx="4990519" cy="146753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14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ダッシュボードで今日やることを確認する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起動時に最初に表示される画面です。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「今日の一言」、本日の状態（未入力／進捗のみ登録済／報告済）、本日のノルマ、目標カードを確認します。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「本日の報告」ボタンから日次報告の入力に進みます。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補足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着手中の目標が 2 件以上あるときは、画面上部の目標タブで対象を切り替えます。</a:t>
            </a:r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50569"/>
            <a:ext cx="7000400" cy="440886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16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カレンダーで記録状況を見る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上部メニューの「カレンダー」を開きます。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各日の状態（未入力／進捗のみ登録済／報告済）を月単位で確認します。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日付をクリックすると、その日の入力画面または閲覧画面へ移動します。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「日種別変更」でその日の日種別を個別に上書きできます。</a:t>
            </a:r>
          </a:p>
        </p:txBody>
      </p:sp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852023"/>
            <a:ext cx="7000400" cy="380595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17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752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5  毎日記録する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過去の日次報告を読み返す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カレンダーで「報告済」の日付をクリックすると、日次報告閲覧が開きます。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実績（投下時間・完了分量・周回・正答率）と日記を確認できます。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確定済みの報告は読み取り専用です。追記できるのはコメントのみです。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78950"/>
            <a:ext cx="7000400" cy="435210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18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分析：品質推移 — 得点の伸びを見る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上部メニューの「分析」を開きます。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目標タブで対象の目標を選びます。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「品質推移」タブで、周回別の品質指標の推移を確認します。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粒度（日別／週別／月別）を切り替えられます。赤い破線は合格基準線です。</a:t>
            </a:r>
          </a:p>
        </p:txBody>
      </p:sp>
      <p:pic>
        <p:nvPicPr>
          <p:cNvPr id="6" name="Picture 5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86348"/>
            <a:ext cx="7000400" cy="4337304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19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分析：進捗 — 実績と計画を比べる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「進捗」タブを開きます。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教材ごとに、実績（実線）と計画線（点線）を比較できます。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実績が計画線を上回っていれば前倒し、下回っていれば遅れです。</a:t>
            </a:r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71"/>
            <a:ext cx="7000400" cy="418265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20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分析：完了予測 — 締切に間に合うか確認する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「完了予測」タブを開きます。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教材ごとに、締切・完了予測日・乖離が表示されます。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実績が少ない教材は「実績不足のため算出不可」と表示されます。</a:t>
            </a:r>
          </a:p>
        </p:txBody>
      </p:sp>
      <p:pic>
        <p:nvPicPr>
          <p:cNvPr id="6" name="Picture 5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04590"/>
            <a:ext cx="7000400" cy="2900819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21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分析：実効速度 — 1時間あたりの処理量を見る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「実効速度」タブを開きます。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周回別に、単位時間あたりどれだけ進められたかの推移を確認します。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速度が落ちている場合は、教材の難度や学習時間の質を見直す目安になります。</a:t>
            </a: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663642"/>
            <a:ext cx="7000400" cy="4182715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22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分析：ガントチャート — 教材ごとの計画期間を見る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「ガントチャート」タブを開きます。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教材ごとの計画期間が横棒で表示されます。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濃い色の部分が完了済み、薄い色の部分がこれから取り組む範囲です。</a:t>
            </a:r>
          </a:p>
        </p:txBody>
      </p:sp>
      <p:pic>
        <p:nvPicPr>
          <p:cNvPr id="6" name="Picture 5" descr="imag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393556"/>
            <a:ext cx="7000400" cy="2722888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23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分析：リプラン履歴 — ノルマの変更履歴を見る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「リプラン履歴」タブを開きます。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日時・教材・契機・変更前ノルマ・変更後ノルマが一覧表示されます。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いつ、なぜ計画が組み替えられたのかを追跡できます。</a:t>
            </a:r>
          </a:p>
        </p:txBody>
      </p:sp>
      <p:pic>
        <p:nvPicPr>
          <p:cNvPr id="6" name="Picture 5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2036090"/>
            <a:ext cx="7000400" cy="3437820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24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644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6  ふりかえる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分析：成長記述 — AI のフィードバックを読み返す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「成長記述」タブを開きます。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日次報告に対する AI のフィードバックが、日付順に表示されます。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数値では見えない理解の深まりや、次に取るべき方針の確認に使います。</a:t>
            </a:r>
          </a:p>
        </p:txBody>
      </p:sp>
      <p:pic>
        <p:nvPicPr>
          <p:cNvPr id="6" name="Picture 5" descr="image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26743"/>
            <a:ext cx="7000400" cy="4456513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25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85800" y="430000"/>
            <a:ext cx="1860000" cy="300000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altLang="en-US" sz="1050" b="1">
                <a:solidFill>
                  <a:srgbClr val="2563EB"/>
                </a:solidFill>
                <a:latin typeface="游ゴシック"/>
                <a:ea typeface="游ゴシック"/>
              </a:rPr>
              <a:t>STEP 7  目標を整理する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0000"/>
            <a:ext cx="108204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300" b="1">
                <a:solidFill>
                  <a:srgbClr val="1F3864"/>
                </a:solidFill>
                <a:latin typeface="游ゴシック"/>
                <a:ea typeface="游ゴシック"/>
              </a:rPr>
              <a:t>終わった目標をアーカイブ・削除する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0000"/>
            <a:ext cx="10820400" cy="12700"/>
          </a:xfrm>
          <a:prstGeom prst="rect">
            <a:avLst/>
          </a:prstGeom>
          <a:solidFill>
            <a:srgbClr val="D8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80000"/>
            <a:ext cx="3500000" cy="4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① 「目標一覧」で「アーカイブ済みを表示」にチェックを入れます。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② アーカイブ済みの目標が下部に一覧表示されます。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③ 「復元」で目標一覧に戻せます。</a:t>
            </a:r>
          </a:p>
          <a:p>
            <a:pPr algn="l" eaLnBrk="1" latinLnBrk="0" hangingPunct="1">
              <a:lnSpc>
                <a:spcPct val="140000"/>
              </a:lnSpc>
              <a:spcBef>
                <a:spcPts val="0"/>
              </a:spcBef>
              <a:spcAft>
                <a:spcPts val="900"/>
              </a:spcAft>
            </a:pPr>
            <a:r>
              <a:rPr lang="ja-JP" altLang="en-US" sz="1200" b="0">
                <a:solidFill>
                  <a:srgbClr val="333333"/>
                </a:solidFill>
                <a:latin typeface="游ゴシック"/>
                <a:ea typeface="游ゴシック"/>
              </a:rPr>
              <a:t>④ 「完全に削除」で、科目・教材ごと物理的に削除します。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303230"/>
            <a:ext cx="3500000" cy="826770"/>
          </a:xfrm>
          <a:prstGeom prst="roundRect">
            <a:avLst>
              <a:gd name="adj" fmla="val 8000"/>
            </a:avLst>
          </a:prstGeom>
          <a:solidFill>
            <a:srgbClr val="FFF8E8"/>
          </a:solidFill>
          <a:ln w="9525">
            <a:solidFill>
              <a:srgbClr val="E8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t"/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lang="ja-JP" altLang="en-US" sz="1000" b="1">
                <a:solidFill>
                  <a:srgbClr val="8A5A00"/>
                </a:solidFill>
                <a:latin typeface="游ゴシック"/>
                <a:ea typeface="游ゴシック"/>
              </a:rPr>
              <a:t>注意</a:t>
            </a:r>
          </a:p>
          <a:p>
            <a:pPr algn="l" eaLnBrk="1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0">
                <a:solidFill>
                  <a:srgbClr val="8A5A00"/>
                </a:solidFill>
                <a:latin typeface="游ゴシック"/>
                <a:ea typeface="游ゴシック"/>
              </a:rPr>
              <a:t>実績が残る教材がある状態で、学習実績を削除するチェックを外すと削除は失敗します。</a:t>
            </a:r>
          </a:p>
        </p:txBody>
      </p:sp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800" y="1562159"/>
            <a:ext cx="7000400" cy="4385681"/>
          </a:xfrm>
          <a:prstGeom prst="rect">
            <a:avLst/>
          </a:prstGeom>
          <a:ln w="9525">
            <a:solidFill>
              <a:srgbClr val="C9CF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ミチナリ ユーザ手順書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eaLnBrk="1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900" b="0">
                <a:solidFill>
                  <a:srgbClr val="7A7A7A"/>
                </a:solidFill>
                <a:latin typeface="游ゴシック"/>
                <a:ea typeface="游ゴシック"/>
              </a:rPr>
              <a:t>27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1" lang="ja-JP" altLang="en-US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セットアップ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 altLang="en-US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アプリを起動し、AI接続を設定します。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　起動する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　初期設定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sz="13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このパートが終わると、アプリの初期設定は完了です。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1" lang="ja-JP" altLang="en-US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目標をつくる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 altLang="en-US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学習する目標を登録し、科目・教材・時間配分を整えます。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　目標をつくる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　目標の中身を整える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sz="13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このパートが終わると、日々のノルマが自動で算出されるようになります。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7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1" lang="ja-JP" altLang="en-US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毎日つかう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 altLang="en-US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日々の実績を記録し、分析画面でふりかえります。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5　毎日記録する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6　ふりかえる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sz="13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このパートをくり返すことで、計画が実績に合わせて調整されていきます。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15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72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1 セットアップ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8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 目標をつくる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2A4A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3 毎日つかう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6200" y="1400000"/>
            <a:ext cx="1400000" cy="380000"/>
          </a:xfrm>
          <a:prstGeom prst="roundRect">
            <a:avLst>
              <a:gd name="adj" fmla="val 40000"/>
            </a:avLst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000" b="1" lang="ja-JP" altLang="en-US">
                <a:solidFill>
                  <a:srgbClr val="1F3864"/>
                </a:solidFill>
                <a:latin typeface="游ゴシック"/>
                <a:ea typeface="游ゴシック"/>
                <a:cs typeface="游ゴシック"/>
              </a:rPr>
              <a:t>4 整理する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000"/>
            <a:ext cx="40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PART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80000"/>
            <a:ext cx="90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目標を整理する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960000"/>
            <a:ext cx="1400000" cy="45720"/>
          </a:xfrm>
          <a:prstGeom prst="rect">
            <a:avLst/>
          </a:prstGeom>
          <a:solidFill>
            <a:srgbClr val="7F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00000"/>
            <a:ext cx="900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 altLang="en-US">
                <a:solidFill>
                  <a:srgbClr val="D8DDE5"/>
                </a:solidFill>
                <a:latin typeface="游ゴシック"/>
                <a:ea typeface="游ゴシック"/>
                <a:cs typeface="游ゴシック"/>
              </a:rPr>
              <a:t>終わった目標をアーカイブ・削除して、一覧を整えます。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0000"/>
            <a:ext cx="9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このパートに含まれる手順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000"/>
            <a:ext cx="90000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7　目標を整理する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50000"/>
            <a:ext cx="8200000" cy="720000"/>
          </a:xfrm>
          <a:prstGeom prst="roundRect">
            <a:avLst>
              <a:gd name="adj" fmla="val 8000"/>
            </a:avLst>
          </a:prstGeom>
          <a:solidFill>
            <a:srgbClr val="2A4A7F"/>
          </a:solidFill>
          <a:ln w="9525">
            <a:solidFill>
              <a:srgbClr val="7FB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lang="ja-JP" altLang="en-US">
                <a:solidFill>
                  <a:srgbClr val="7FB0FF"/>
                </a:solidFill>
                <a:latin typeface="游ゴシック"/>
                <a:ea typeface="游ゴシック"/>
                <a:cs typeface="游ゴシック"/>
              </a:rPr>
              <a:t>ゴール　</a:t>
            </a:r>
            <a:r>
              <a:rPr sz="13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このパートが終わると、目標一覧が進行中のものだけになります。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8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ミチナリ ユーザ手順書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6200" y="6280000"/>
            <a:ext cx="20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ja-JP" altLang="en-US">
                <a:solidFill>
                  <a:srgbClr val="9CB3D9"/>
                </a:solidFill>
                <a:latin typeface="游ゴシック"/>
                <a:ea typeface="游ゴシック"/>
                <a:cs typeface="游ゴシック"/>
              </a:rPr>
              <a:t>26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1921</Words>
  <Application>Microsoft Office PowerPoint</Application>
  <PresentationFormat>ワイド画面</PresentationFormat>
  <Paragraphs>204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7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須山哲平</dc:creator>
  <cp:keywords/>
  <dc:description>generated using python-pptx</dc:description>
  <cp:lastModifiedBy>哲平 須山</cp:lastModifiedBy>
  <cp:revision>1</cp:revision>
  <dcterms:created xsi:type="dcterms:W3CDTF">2013-01-27T09:14:16Z</dcterms:created>
  <dcterms:modified xsi:type="dcterms:W3CDTF">2026-09-06T12:50:09Z</dcterms:modified>
  <cp:category/>
</cp:coreProperties>
</file>